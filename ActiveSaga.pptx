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1"/>
  </p:notesMasterIdLst>
  <p:sldIdLst>
    <p:sldId id="256" r:id="rId2"/>
    <p:sldId id="262" r:id="rId3"/>
    <p:sldId id="280" r:id="rId4"/>
    <p:sldId id="261" r:id="rId5"/>
    <p:sldId id="260" r:id="rId6"/>
    <p:sldId id="282" r:id="rId7"/>
    <p:sldId id="258" r:id="rId8"/>
    <p:sldId id="281" r:id="rId9"/>
    <p:sldId id="290" r:id="rId10"/>
    <p:sldId id="291" r:id="rId11"/>
    <p:sldId id="283" r:id="rId12"/>
    <p:sldId id="263" r:id="rId13"/>
    <p:sldId id="284" r:id="rId14"/>
    <p:sldId id="285" r:id="rId15"/>
    <p:sldId id="286" r:id="rId16"/>
    <p:sldId id="287" r:id="rId17"/>
    <p:sldId id="288" r:id="rId18"/>
    <p:sldId id="289" r:id="rId19"/>
    <p:sldId id="259" r:id="rId20"/>
  </p:sldIdLst>
  <p:sldSz cx="9144000" cy="5143500" type="screen16x9"/>
  <p:notesSz cx="6858000" cy="9144000"/>
  <p:embeddedFontLst>
    <p:embeddedFont>
      <p:font typeface="Anaheim" panose="020B0604020202020204" charset="0"/>
      <p:regular r:id="rId22"/>
      <p:bold r:id="rId23"/>
    </p:embeddedFont>
    <p:embeddedFont>
      <p:font typeface="Bebas Neue" panose="020B0606020202050201" pitchFamily="34" charset="0"/>
      <p:regular r:id="rId24"/>
    </p:embeddedFont>
    <p:embeddedFont>
      <p:font typeface="Epilogue" panose="020B0604020202020204" charset="0"/>
      <p:regular r:id="rId25"/>
      <p:bold r:id="rId26"/>
      <p:italic r:id="rId27"/>
      <p:boldItalic r:id="rId28"/>
    </p:embeddedFont>
    <p:embeddedFont>
      <p:font typeface="Krona One" panose="020B0604020202020204" charset="0"/>
      <p:regular r:id="rId29"/>
    </p:embeddedFont>
    <p:embeddedFont>
      <p:font typeface="Nunito Light" pitchFamily="2" charset="0"/>
      <p:regular r:id="rId30"/>
      <p: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C65FD9-BB43-47C7-8352-4DC349932AB9}">
  <a:tblStyle styleId="{39C65FD9-BB43-47C7-8352-4DC349932A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DCEDE2C-6211-4885-8CD3-33D1FA0B796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87" autoAdjust="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20ed070a5c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20ed070a5c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המאמר של הגרפים: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https://www.thelancet.com/journals/langlo/article/PIIS2214-109X%2824%2900150-5/fulltext#fig3</a:t>
            </a:r>
            <a:endParaRPr lang="he-IL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he-IL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4678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7268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532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02343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080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7233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5527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614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640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14304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27040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7068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119250" y="3876951"/>
            <a:ext cx="5457760" cy="499355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6437362" y="-2588100"/>
            <a:ext cx="3868926" cy="353983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3720650" y="3938775"/>
            <a:ext cx="883200" cy="8832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201950" y="-626525"/>
            <a:ext cx="1674600" cy="16746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1397263" y="-2008750"/>
            <a:ext cx="3868926" cy="353983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40975" y="1324222"/>
            <a:ext cx="4678500" cy="16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40975" y="3011475"/>
            <a:ext cx="4678500" cy="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270250" y="635875"/>
            <a:ext cx="60798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793950" y="726475"/>
            <a:ext cx="1476300" cy="84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/>
          <p:nvPr/>
        </p:nvSpPr>
        <p:spPr>
          <a:xfrm>
            <a:off x="-623200" y="3452451"/>
            <a:ext cx="5457760" cy="499355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250537" y="1993925"/>
            <a:ext cx="3868926" cy="353983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08425" y="1179425"/>
            <a:ext cx="1674600" cy="16746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4419689" y="2438327"/>
            <a:ext cx="25965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2"/>
          </p:nvPr>
        </p:nvSpPr>
        <p:spPr>
          <a:xfrm>
            <a:off x="1503525" y="2438327"/>
            <a:ext cx="25965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>
            <a:off x="1503525" y="2095825"/>
            <a:ext cx="25965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4419691" y="2095825"/>
            <a:ext cx="25965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263152" y="4268950"/>
            <a:ext cx="4229525" cy="3869810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8215025" y="2414275"/>
            <a:ext cx="1674600" cy="16746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-2933213" y="-1873225"/>
            <a:ext cx="3868926" cy="353983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49" name="Google Shape;49;p5"/>
          <p:cNvSpPr/>
          <p:nvPr/>
        </p:nvSpPr>
        <p:spPr>
          <a:xfrm rot="10603528">
            <a:off x="6567210" y="2564243"/>
            <a:ext cx="4229526" cy="3869810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grpSp>
        <p:nvGrpSpPr>
          <p:cNvPr id="50" name="Google Shape;50;p5"/>
          <p:cNvGrpSpPr/>
          <p:nvPr/>
        </p:nvGrpSpPr>
        <p:grpSpPr>
          <a:xfrm>
            <a:off x="8593805" y="604506"/>
            <a:ext cx="651071" cy="945302"/>
            <a:chOff x="8593805" y="604506"/>
            <a:chExt cx="651071" cy="945302"/>
          </a:xfrm>
        </p:grpSpPr>
        <p:grpSp>
          <p:nvGrpSpPr>
            <p:cNvPr id="51" name="Google Shape;51;p5"/>
            <p:cNvGrpSpPr/>
            <p:nvPr/>
          </p:nvGrpSpPr>
          <p:grpSpPr>
            <a:xfrm>
              <a:off x="8593805" y="604506"/>
              <a:ext cx="176351" cy="176351"/>
              <a:chOff x="6232675" y="1256675"/>
              <a:chExt cx="261300" cy="261300"/>
            </a:xfrm>
          </p:grpSpPr>
          <p:cxnSp>
            <p:nvCxnSpPr>
              <p:cNvPr id="52" name="Google Shape;52;p5"/>
              <p:cNvCxnSpPr/>
              <p:nvPr/>
            </p:nvCxnSpPr>
            <p:spPr>
              <a:xfrm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 rot="10800000"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54" name="Google Shape;54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9818395">
              <a:off x="8730400" y="1377313"/>
              <a:ext cx="510345" cy="102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" name="Google Shape;55;p5"/>
          <p:cNvSpPr/>
          <p:nvPr/>
        </p:nvSpPr>
        <p:spPr>
          <a:xfrm>
            <a:off x="-330125" y="4088875"/>
            <a:ext cx="1318800" cy="13188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713225" y="1193050"/>
            <a:ext cx="4449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subTitle" idx="1"/>
          </p:nvPr>
        </p:nvSpPr>
        <p:spPr>
          <a:xfrm>
            <a:off x="713225" y="1734075"/>
            <a:ext cx="4449000" cy="23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>
            <a:spLocks noGrp="1"/>
          </p:cNvSpPr>
          <p:nvPr>
            <p:ph type="pic" idx="2"/>
          </p:nvPr>
        </p:nvSpPr>
        <p:spPr>
          <a:xfrm>
            <a:off x="5258450" y="1815725"/>
            <a:ext cx="3981600" cy="3327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7"/>
          <p:cNvSpPr/>
          <p:nvPr/>
        </p:nvSpPr>
        <p:spPr>
          <a:xfrm rot="1110485">
            <a:off x="-1037595" y="-3223262"/>
            <a:ext cx="5457777" cy="4993524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6361050" y="-871250"/>
            <a:ext cx="1674600" cy="16746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1875677" y="4247999"/>
            <a:ext cx="4602929" cy="421133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2" hasCustomPrompt="1"/>
          </p:nvPr>
        </p:nvSpPr>
        <p:spPr>
          <a:xfrm>
            <a:off x="1538000" y="136557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3" hasCustomPrompt="1"/>
          </p:nvPr>
        </p:nvSpPr>
        <p:spPr>
          <a:xfrm>
            <a:off x="1538000" y="315232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4" hasCustomPrompt="1"/>
          </p:nvPr>
        </p:nvSpPr>
        <p:spPr>
          <a:xfrm>
            <a:off x="3704420" y="136557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5" hasCustomPrompt="1"/>
          </p:nvPr>
        </p:nvSpPr>
        <p:spPr>
          <a:xfrm>
            <a:off x="3704420" y="315232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846200" y="2116475"/>
            <a:ext cx="2118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6"/>
          </p:nvPr>
        </p:nvSpPr>
        <p:spPr>
          <a:xfrm>
            <a:off x="3012620" y="2116475"/>
            <a:ext cx="2118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7"/>
          </p:nvPr>
        </p:nvSpPr>
        <p:spPr>
          <a:xfrm>
            <a:off x="846200" y="3903225"/>
            <a:ext cx="2118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8"/>
          </p:nvPr>
        </p:nvSpPr>
        <p:spPr>
          <a:xfrm>
            <a:off x="3012620" y="3903225"/>
            <a:ext cx="2118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/>
          <p:nvPr/>
        </p:nvSpPr>
        <p:spPr>
          <a:xfrm flipH="1">
            <a:off x="4629150" y="-3408424"/>
            <a:ext cx="5457760" cy="499355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-1462438" y="3778625"/>
            <a:ext cx="3868926" cy="353983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7219250" y="4494375"/>
            <a:ext cx="883200" cy="8832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8283975" y="594275"/>
            <a:ext cx="1674600" cy="16746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6228000" y="4112226"/>
            <a:ext cx="5457760" cy="499355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460862" y="-2280850"/>
            <a:ext cx="3868926" cy="353983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-1011263" y="4035700"/>
            <a:ext cx="3868926" cy="353983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grpSp>
        <p:nvGrpSpPr>
          <p:cNvPr id="139" name="Google Shape;139;p16"/>
          <p:cNvGrpSpPr/>
          <p:nvPr/>
        </p:nvGrpSpPr>
        <p:grpSpPr>
          <a:xfrm>
            <a:off x="8016700" y="212284"/>
            <a:ext cx="1065751" cy="1288988"/>
            <a:chOff x="8016700" y="212284"/>
            <a:chExt cx="1065751" cy="1288988"/>
          </a:xfrm>
        </p:grpSpPr>
        <p:grpSp>
          <p:nvGrpSpPr>
            <p:cNvPr id="140" name="Google Shape;140;p16"/>
            <p:cNvGrpSpPr/>
            <p:nvPr/>
          </p:nvGrpSpPr>
          <p:grpSpPr>
            <a:xfrm>
              <a:off x="8640686" y="915031"/>
              <a:ext cx="102691" cy="102691"/>
              <a:chOff x="6232675" y="1256675"/>
              <a:chExt cx="261300" cy="261300"/>
            </a:xfrm>
          </p:grpSpPr>
          <p:cxnSp>
            <p:nvCxnSpPr>
              <p:cNvPr id="141" name="Google Shape;141;p16"/>
              <p:cNvCxnSpPr/>
              <p:nvPr/>
            </p:nvCxnSpPr>
            <p:spPr>
              <a:xfrm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16"/>
              <p:cNvCxnSpPr/>
              <p:nvPr/>
            </p:nvCxnSpPr>
            <p:spPr>
              <a:xfrm rot="10800000"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143" name="Google Shape;143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3245290">
              <a:off x="8046078" y="274765"/>
              <a:ext cx="258743" cy="204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9818395">
              <a:off x="8567975" y="1328775"/>
              <a:ext cx="510345" cy="102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6"/>
          <p:cNvSpPr/>
          <p:nvPr/>
        </p:nvSpPr>
        <p:spPr>
          <a:xfrm>
            <a:off x="7872200" y="3991675"/>
            <a:ext cx="883200" cy="8832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-1171275" y="-74725"/>
            <a:ext cx="1674600" cy="16746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subTitle" idx="1"/>
          </p:nvPr>
        </p:nvSpPr>
        <p:spPr>
          <a:xfrm>
            <a:off x="894425" y="2440600"/>
            <a:ext cx="2292300" cy="16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subTitle" idx="2"/>
          </p:nvPr>
        </p:nvSpPr>
        <p:spPr>
          <a:xfrm>
            <a:off x="3425852" y="2440600"/>
            <a:ext cx="2292300" cy="16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3"/>
          </p:nvPr>
        </p:nvSpPr>
        <p:spPr>
          <a:xfrm>
            <a:off x="5957278" y="2440600"/>
            <a:ext cx="2292300" cy="16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subTitle" idx="4"/>
          </p:nvPr>
        </p:nvSpPr>
        <p:spPr>
          <a:xfrm>
            <a:off x="894420" y="2029630"/>
            <a:ext cx="22923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5"/>
          </p:nvPr>
        </p:nvSpPr>
        <p:spPr>
          <a:xfrm>
            <a:off x="3425848" y="2029630"/>
            <a:ext cx="22923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subTitle" idx="6"/>
          </p:nvPr>
        </p:nvSpPr>
        <p:spPr>
          <a:xfrm>
            <a:off x="5957280" y="2029630"/>
            <a:ext cx="22923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 rotWithShape="1">
          <a:blip r:embed="rId4">
            <a:alphaModFix/>
          </a:blip>
          <a:srcRect l="19277" t="15668" r="7591" b="14785"/>
          <a:stretch/>
        </p:blipFill>
        <p:spPr>
          <a:xfrm rot="4917115">
            <a:off x="7106075" y="211025"/>
            <a:ext cx="296445" cy="27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7422025" y="-1386074"/>
            <a:ext cx="5457760" cy="499355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-1467588" y="3669700"/>
            <a:ext cx="3868926" cy="353983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756175" y="-1006200"/>
            <a:ext cx="1674600" cy="16746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-1073275" y="3230125"/>
            <a:ext cx="1674600" cy="16746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subTitle" idx="1"/>
          </p:nvPr>
        </p:nvSpPr>
        <p:spPr>
          <a:xfrm>
            <a:off x="1698750" y="1697925"/>
            <a:ext cx="27471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2"/>
          </p:nvPr>
        </p:nvSpPr>
        <p:spPr>
          <a:xfrm>
            <a:off x="5236652" y="1697925"/>
            <a:ext cx="27471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3"/>
          </p:nvPr>
        </p:nvSpPr>
        <p:spPr>
          <a:xfrm>
            <a:off x="1698750" y="3358500"/>
            <a:ext cx="27471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ubTitle" idx="4"/>
          </p:nvPr>
        </p:nvSpPr>
        <p:spPr>
          <a:xfrm>
            <a:off x="5236652" y="3358500"/>
            <a:ext cx="27471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5"/>
          </p:nvPr>
        </p:nvSpPr>
        <p:spPr>
          <a:xfrm>
            <a:off x="1698750" y="1183750"/>
            <a:ext cx="2747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6"/>
          </p:nvPr>
        </p:nvSpPr>
        <p:spPr>
          <a:xfrm>
            <a:off x="1698750" y="2844400"/>
            <a:ext cx="2747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7"/>
          </p:nvPr>
        </p:nvSpPr>
        <p:spPr>
          <a:xfrm>
            <a:off x="5236625" y="1183750"/>
            <a:ext cx="2747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8" name="Google Shape;168;p17"/>
          <p:cNvSpPr txBox="1">
            <a:spLocks noGrp="1"/>
          </p:cNvSpPr>
          <p:nvPr>
            <p:ph type="subTitle" idx="8"/>
          </p:nvPr>
        </p:nvSpPr>
        <p:spPr>
          <a:xfrm>
            <a:off x="5236625" y="2844400"/>
            <a:ext cx="2747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69" name="Google Shape;169;p17"/>
          <p:cNvGrpSpPr/>
          <p:nvPr/>
        </p:nvGrpSpPr>
        <p:grpSpPr>
          <a:xfrm>
            <a:off x="7298228" y="3785796"/>
            <a:ext cx="1572774" cy="1260951"/>
            <a:chOff x="7298228" y="3785796"/>
            <a:chExt cx="1572774" cy="1260951"/>
          </a:xfrm>
        </p:grpSpPr>
        <p:grpSp>
          <p:nvGrpSpPr>
            <p:cNvPr id="170" name="Google Shape;170;p17"/>
            <p:cNvGrpSpPr/>
            <p:nvPr/>
          </p:nvGrpSpPr>
          <p:grpSpPr>
            <a:xfrm>
              <a:off x="8558233" y="4238526"/>
              <a:ext cx="206845" cy="206845"/>
              <a:chOff x="6232675" y="1256675"/>
              <a:chExt cx="261300" cy="261300"/>
            </a:xfrm>
          </p:grpSpPr>
          <p:cxnSp>
            <p:nvCxnSpPr>
              <p:cNvPr id="171" name="Google Shape;171;p17"/>
              <p:cNvCxnSpPr/>
              <p:nvPr/>
            </p:nvCxnSpPr>
            <p:spPr>
              <a:xfrm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2" name="Google Shape;172;p17"/>
              <p:cNvCxnSpPr/>
              <p:nvPr/>
            </p:nvCxnSpPr>
            <p:spPr>
              <a:xfrm rot="10800000"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173" name="Google Shape;173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9818395">
              <a:off x="8356525" y="4802325"/>
              <a:ext cx="510345" cy="10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7"/>
            <p:cNvPicPr preferRelativeResize="0"/>
            <p:nvPr/>
          </p:nvPicPr>
          <p:blipFill rotWithShape="1">
            <a:blip r:embed="rId3">
              <a:alphaModFix/>
            </a:blip>
            <a:srcRect l="11607" t="20120" r="14970" b="18386"/>
            <a:stretch/>
          </p:blipFill>
          <p:spPr>
            <a:xfrm>
              <a:off x="8352400" y="3785796"/>
              <a:ext cx="416150" cy="2744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7"/>
            <p:cNvPicPr preferRelativeResize="0"/>
            <p:nvPr/>
          </p:nvPicPr>
          <p:blipFill rotWithShape="1">
            <a:blip r:embed="rId4">
              <a:alphaModFix/>
            </a:blip>
            <a:srcRect l="8957" t="8983" r="3903" b="9196"/>
            <a:stretch/>
          </p:blipFill>
          <p:spPr>
            <a:xfrm>
              <a:off x="7298228" y="4724200"/>
              <a:ext cx="296450" cy="3225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/>
          <p:nvPr/>
        </p:nvSpPr>
        <p:spPr>
          <a:xfrm flipH="1">
            <a:off x="4589448" y="3937951"/>
            <a:ext cx="5457760" cy="499355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289" name="Google Shape;289;p25"/>
          <p:cNvSpPr/>
          <p:nvPr/>
        </p:nvSpPr>
        <p:spPr>
          <a:xfrm rot="1183476" flipH="1">
            <a:off x="-2049045" y="-1654073"/>
            <a:ext cx="3868901" cy="3539805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290" name="Google Shape;290;p25"/>
          <p:cNvSpPr/>
          <p:nvPr/>
        </p:nvSpPr>
        <p:spPr>
          <a:xfrm flipH="1">
            <a:off x="8384758" y="3215125"/>
            <a:ext cx="1549200" cy="15492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5"/>
          <p:cNvSpPr/>
          <p:nvPr/>
        </p:nvSpPr>
        <p:spPr>
          <a:xfrm flipH="1">
            <a:off x="1417708" y="-620275"/>
            <a:ext cx="1065300" cy="10653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" name="Google Shape;292;p25"/>
          <p:cNvGrpSpPr/>
          <p:nvPr/>
        </p:nvGrpSpPr>
        <p:grpSpPr>
          <a:xfrm>
            <a:off x="7323996" y="155150"/>
            <a:ext cx="1791479" cy="1716749"/>
            <a:chOff x="7323996" y="155150"/>
            <a:chExt cx="1791479" cy="1716749"/>
          </a:xfrm>
        </p:grpSpPr>
        <p:grpSp>
          <p:nvGrpSpPr>
            <p:cNvPr id="293" name="Google Shape;293;p25"/>
            <p:cNvGrpSpPr/>
            <p:nvPr/>
          </p:nvGrpSpPr>
          <p:grpSpPr>
            <a:xfrm>
              <a:off x="8642183" y="840451"/>
              <a:ext cx="206845" cy="206845"/>
              <a:chOff x="6232675" y="1256675"/>
              <a:chExt cx="261300" cy="261300"/>
            </a:xfrm>
          </p:grpSpPr>
          <p:cxnSp>
            <p:nvCxnSpPr>
              <p:cNvPr id="294" name="Google Shape;294;p25"/>
              <p:cNvCxnSpPr/>
              <p:nvPr/>
            </p:nvCxnSpPr>
            <p:spPr>
              <a:xfrm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" name="Google Shape;295;p25"/>
              <p:cNvCxnSpPr/>
              <p:nvPr/>
            </p:nvCxnSpPr>
            <p:spPr>
              <a:xfrm rot="10800000"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6" name="Google Shape;296;p25"/>
            <p:cNvGrpSpPr/>
            <p:nvPr/>
          </p:nvGrpSpPr>
          <p:grpSpPr>
            <a:xfrm>
              <a:off x="7780761" y="1145306"/>
              <a:ext cx="102691" cy="102691"/>
              <a:chOff x="6232675" y="1256675"/>
              <a:chExt cx="261300" cy="261300"/>
            </a:xfrm>
          </p:grpSpPr>
          <p:cxnSp>
            <p:nvCxnSpPr>
              <p:cNvPr id="297" name="Google Shape;297;p25"/>
              <p:cNvCxnSpPr/>
              <p:nvPr/>
            </p:nvCxnSpPr>
            <p:spPr>
              <a:xfrm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" name="Google Shape;298;p25"/>
              <p:cNvCxnSpPr/>
              <p:nvPr/>
            </p:nvCxnSpPr>
            <p:spPr>
              <a:xfrm rot="10800000"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299" name="Google Shape;299;p25"/>
            <p:cNvPicPr preferRelativeResize="0"/>
            <p:nvPr/>
          </p:nvPicPr>
          <p:blipFill rotWithShape="1">
            <a:blip r:embed="rId2">
              <a:alphaModFix/>
            </a:blip>
            <a:srcRect l="9736" t="5137" r="12677" b="18863"/>
            <a:stretch/>
          </p:blipFill>
          <p:spPr>
            <a:xfrm rot="1034080">
              <a:off x="7807376" y="1097948"/>
              <a:ext cx="1246798" cy="6027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25"/>
            <p:cNvPicPr preferRelativeResize="0"/>
            <p:nvPr/>
          </p:nvPicPr>
          <p:blipFill rotWithShape="1">
            <a:blip r:embed="rId3">
              <a:alphaModFix/>
            </a:blip>
            <a:srcRect l="4916" t="12402" r="6969" b="15113"/>
            <a:stretch/>
          </p:blipFill>
          <p:spPr>
            <a:xfrm>
              <a:off x="8430775" y="155150"/>
              <a:ext cx="353400" cy="38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25"/>
            <p:cNvPicPr preferRelativeResize="0"/>
            <p:nvPr/>
          </p:nvPicPr>
          <p:blipFill rotWithShape="1">
            <a:blip r:embed="rId4">
              <a:alphaModFix/>
            </a:blip>
            <a:srcRect l="13706" t="19573" r="12683" b="12274"/>
            <a:stretch/>
          </p:blipFill>
          <p:spPr>
            <a:xfrm>
              <a:off x="7323996" y="178750"/>
              <a:ext cx="327650" cy="3339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/>
          <p:nvPr/>
        </p:nvSpPr>
        <p:spPr>
          <a:xfrm rot="9155687" flipH="1">
            <a:off x="-1320592" y="3691226"/>
            <a:ext cx="3868893" cy="3539821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304" name="Google Shape;304;p26"/>
          <p:cNvSpPr/>
          <p:nvPr/>
        </p:nvSpPr>
        <p:spPr>
          <a:xfrm rot="1004530" flipH="1">
            <a:off x="6871380" y="-1714053"/>
            <a:ext cx="3868915" cy="3539835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rgbClr val="00FFFF">
              <a:alpha val="12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305" name="Google Shape;305;p26"/>
          <p:cNvSpPr/>
          <p:nvPr/>
        </p:nvSpPr>
        <p:spPr>
          <a:xfrm flipH="1">
            <a:off x="8584221" y="1734450"/>
            <a:ext cx="1674600" cy="16746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6"/>
          <p:cNvSpPr/>
          <p:nvPr/>
        </p:nvSpPr>
        <p:spPr>
          <a:xfrm flipH="1">
            <a:off x="-894251" y="3803500"/>
            <a:ext cx="1423500" cy="14235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" name="Google Shape;307;p26"/>
          <p:cNvGrpSpPr/>
          <p:nvPr/>
        </p:nvGrpSpPr>
        <p:grpSpPr>
          <a:xfrm>
            <a:off x="7265299" y="3928025"/>
            <a:ext cx="1685827" cy="1052286"/>
            <a:chOff x="7265299" y="3928025"/>
            <a:chExt cx="1685827" cy="1052286"/>
          </a:xfrm>
        </p:grpSpPr>
        <p:pic>
          <p:nvPicPr>
            <p:cNvPr id="308" name="Google Shape;308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700130">
              <a:off x="7299753" y="4714152"/>
              <a:ext cx="258743" cy="204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8099996">
              <a:off x="7459725" y="4463900"/>
              <a:ext cx="510345" cy="10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26"/>
            <p:cNvPicPr preferRelativeResize="0"/>
            <p:nvPr/>
          </p:nvPicPr>
          <p:blipFill rotWithShape="1">
            <a:blip r:embed="rId4">
              <a:alphaModFix/>
            </a:blip>
            <a:srcRect l="8957" t="8983" r="3903" b="9196"/>
            <a:stretch/>
          </p:blipFill>
          <p:spPr>
            <a:xfrm>
              <a:off x="8539728" y="3928025"/>
              <a:ext cx="296450" cy="322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26"/>
            <p:cNvPicPr preferRelativeResize="0"/>
            <p:nvPr/>
          </p:nvPicPr>
          <p:blipFill rotWithShape="1">
            <a:blip r:embed="rId5">
              <a:alphaModFix/>
            </a:blip>
            <a:srcRect l="7683" t="12593" r="11775" b="7246"/>
            <a:stretch/>
          </p:blipFill>
          <p:spPr>
            <a:xfrm>
              <a:off x="8123475" y="4327075"/>
              <a:ext cx="614600" cy="6077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2" name="Google Shape;312;p26"/>
            <p:cNvGrpSpPr/>
            <p:nvPr/>
          </p:nvGrpSpPr>
          <p:grpSpPr>
            <a:xfrm>
              <a:off x="8180108" y="3928026"/>
              <a:ext cx="206845" cy="206845"/>
              <a:chOff x="6232675" y="1256675"/>
              <a:chExt cx="261300" cy="261300"/>
            </a:xfrm>
          </p:grpSpPr>
          <p:cxnSp>
            <p:nvCxnSpPr>
              <p:cNvPr id="313" name="Google Shape;313;p26"/>
              <p:cNvCxnSpPr/>
              <p:nvPr/>
            </p:nvCxnSpPr>
            <p:spPr>
              <a:xfrm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" name="Google Shape;314;p26"/>
              <p:cNvCxnSpPr/>
              <p:nvPr/>
            </p:nvCxnSpPr>
            <p:spPr>
              <a:xfrm rot="10800000"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15" name="Google Shape;315;p26"/>
            <p:cNvGrpSpPr/>
            <p:nvPr/>
          </p:nvGrpSpPr>
          <p:grpSpPr>
            <a:xfrm>
              <a:off x="8836180" y="4758991"/>
              <a:ext cx="114946" cy="114946"/>
              <a:chOff x="6232675" y="1256675"/>
              <a:chExt cx="261300" cy="261300"/>
            </a:xfrm>
          </p:grpSpPr>
          <p:cxnSp>
            <p:nvCxnSpPr>
              <p:cNvPr id="316" name="Google Shape;316;p26"/>
              <p:cNvCxnSpPr/>
              <p:nvPr/>
            </p:nvCxnSpPr>
            <p:spPr>
              <a:xfrm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26"/>
              <p:cNvCxnSpPr/>
              <p:nvPr/>
            </p:nvCxnSpPr>
            <p:spPr>
              <a:xfrm rot="10800000"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Krona One"/>
              <a:buNone/>
              <a:defRPr sz="21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2" r:id="rId10"/>
    <p:sldLayoutId id="2147483663" r:id="rId11"/>
    <p:sldLayoutId id="2147483671" r:id="rId12"/>
    <p:sldLayoutId id="214748367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30"/>
          <p:cNvGrpSpPr/>
          <p:nvPr/>
        </p:nvGrpSpPr>
        <p:grpSpPr>
          <a:xfrm>
            <a:off x="8153258" y="1324226"/>
            <a:ext cx="206845" cy="206845"/>
            <a:chOff x="6232675" y="1256675"/>
            <a:chExt cx="261300" cy="261300"/>
          </a:xfrm>
        </p:grpSpPr>
        <p:cxnSp>
          <p:nvCxnSpPr>
            <p:cNvPr id="330" name="Google Shape;330;p30"/>
            <p:cNvCxnSpPr/>
            <p:nvPr/>
          </p:nvCxnSpPr>
          <p:spPr>
            <a:xfrm>
              <a:off x="6363325" y="1256675"/>
              <a:ext cx="0" cy="261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331;p30"/>
            <p:cNvCxnSpPr/>
            <p:nvPr/>
          </p:nvCxnSpPr>
          <p:spPr>
            <a:xfrm rot="10800000">
              <a:off x="6363325" y="1256675"/>
              <a:ext cx="0" cy="261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0" name="Google Shape;340;p30"/>
          <p:cNvSpPr txBox="1">
            <a:spLocks noGrp="1"/>
          </p:cNvSpPr>
          <p:nvPr>
            <p:ph type="ctrTitle"/>
          </p:nvPr>
        </p:nvSpPr>
        <p:spPr>
          <a:xfrm>
            <a:off x="516044" y="1242616"/>
            <a:ext cx="6392283" cy="16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VR Sport Game</a:t>
            </a:r>
            <a:br>
              <a:rPr lang="en" sz="4400" dirty="0"/>
            </a:br>
            <a:r>
              <a:rPr lang="en" sz="4400" dirty="0">
                <a:solidFill>
                  <a:schemeClr val="dk2"/>
                </a:solidFill>
              </a:rPr>
              <a:t>ActiveSaga</a:t>
            </a:r>
            <a:endParaRPr sz="4400" dirty="0">
              <a:solidFill>
                <a:schemeClr val="dk2"/>
              </a:solidFill>
            </a:endParaRPr>
          </a:p>
        </p:txBody>
      </p:sp>
      <p:sp>
        <p:nvSpPr>
          <p:cNvPr id="341" name="Google Shape;341;p30"/>
          <p:cNvSpPr txBox="1">
            <a:spLocks noGrp="1"/>
          </p:cNvSpPr>
          <p:nvPr>
            <p:ph type="subTitle" idx="1"/>
          </p:nvPr>
        </p:nvSpPr>
        <p:spPr>
          <a:xfrm>
            <a:off x="595244" y="3569386"/>
            <a:ext cx="4678500" cy="11582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Daniel Chernov &amp; Alexandra Belkind</a:t>
            </a:r>
            <a:br>
              <a:rPr lang="en" sz="1600" dirty="0"/>
            </a:br>
            <a:endParaRPr lang="en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Supervisor: Dr Moshe Sulamy</a:t>
            </a:r>
            <a:endParaRPr sz="1600" dirty="0"/>
          </a:p>
        </p:txBody>
      </p:sp>
      <p:pic>
        <p:nvPicPr>
          <p:cNvPr id="3" name="Google Shape;66;p13" descr="Master's degree in Engineering M.Sc. &gt; המכללה האקדמית להנדסה בראודה כרמיאל">
            <a:extLst>
              <a:ext uri="{FF2B5EF4-FFF2-40B4-BE49-F238E27FC236}">
                <a16:creationId xmlns:a16="http://schemas.microsoft.com/office/drawing/2014/main" id="{1217A364-7624-681D-49F8-AC97BF90A2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50" y="105912"/>
            <a:ext cx="2817330" cy="640847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5C3EF3-08DC-DAA6-7C21-5AAD4BE0C4F8}"/>
              </a:ext>
            </a:extLst>
          </p:cNvPr>
          <p:cNvSpPr txBox="1"/>
          <p:nvPr/>
        </p:nvSpPr>
        <p:spPr>
          <a:xfrm>
            <a:off x="374313" y="801006"/>
            <a:ext cx="2286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6"/>
                </a:solidFill>
              </a:rPr>
              <a:t>Capstone Project Phase A</a:t>
            </a:r>
          </a:p>
          <a:p>
            <a:endParaRPr lang="en-GB" dirty="0">
              <a:solidFill>
                <a:schemeClr val="accent6"/>
              </a:solidFill>
            </a:endParaRPr>
          </a:p>
        </p:txBody>
      </p:sp>
      <p:pic>
        <p:nvPicPr>
          <p:cNvPr id="5" name="Picture Placeholder 6" descr="A video game logo with a person holding a sword and two monsters&#10;&#10;Description automatically generated">
            <a:extLst>
              <a:ext uri="{FF2B5EF4-FFF2-40B4-BE49-F238E27FC236}">
                <a16:creationId xmlns:a16="http://schemas.microsoft.com/office/drawing/2014/main" id="{3F78AA5D-431D-B6E7-7860-894FEDE283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99" r="10099"/>
          <a:stretch>
            <a:fillRect/>
          </a:stretch>
        </p:blipFill>
        <p:spPr>
          <a:xfrm>
            <a:off x="5600074" y="2193556"/>
            <a:ext cx="3292465" cy="27516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6"/>
          <p:cNvSpPr txBox="1">
            <a:spLocks noGrp="1"/>
          </p:cNvSpPr>
          <p:nvPr>
            <p:ph type="title"/>
          </p:nvPr>
        </p:nvSpPr>
        <p:spPr>
          <a:xfrm>
            <a:off x="547580" y="432620"/>
            <a:ext cx="86525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Motivation &amp; Problem</a:t>
            </a:r>
            <a:endParaRPr sz="2800" dirty="0"/>
          </a:p>
        </p:txBody>
      </p:sp>
      <p:sp>
        <p:nvSpPr>
          <p:cNvPr id="462" name="Google Shape;462;p36"/>
          <p:cNvSpPr txBox="1">
            <a:spLocks noGrp="1"/>
          </p:cNvSpPr>
          <p:nvPr>
            <p:ph type="subTitle" idx="4"/>
          </p:nvPr>
        </p:nvSpPr>
        <p:spPr>
          <a:xfrm>
            <a:off x="894420" y="2258680"/>
            <a:ext cx="22923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u="sng" dirty="0"/>
              <a:t>Global Health Crisis</a:t>
            </a:r>
            <a:endParaRPr sz="1600" u="sng" dirty="0"/>
          </a:p>
        </p:txBody>
      </p:sp>
      <p:sp>
        <p:nvSpPr>
          <p:cNvPr id="464" name="Google Shape;464;p36"/>
          <p:cNvSpPr txBox="1">
            <a:spLocks noGrp="1"/>
          </p:cNvSpPr>
          <p:nvPr>
            <p:ph type="subTitle" idx="1"/>
          </p:nvPr>
        </p:nvSpPr>
        <p:spPr>
          <a:xfrm>
            <a:off x="894420" y="2782967"/>
            <a:ext cx="2292300" cy="16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Global physical inactivity is increasing due to sedentary lifestyles</a:t>
            </a:r>
            <a:endParaRPr sz="1600" dirty="0"/>
          </a:p>
        </p:txBody>
      </p:sp>
      <p:sp>
        <p:nvSpPr>
          <p:cNvPr id="468" name="Google Shape;468;p36"/>
          <p:cNvSpPr/>
          <p:nvPr/>
        </p:nvSpPr>
        <p:spPr>
          <a:xfrm>
            <a:off x="979195" y="1279050"/>
            <a:ext cx="705900" cy="7059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0" name="Google Shape;480;p36"/>
          <p:cNvGrpSpPr/>
          <p:nvPr/>
        </p:nvGrpSpPr>
        <p:grpSpPr>
          <a:xfrm>
            <a:off x="1164825" y="1507963"/>
            <a:ext cx="334625" cy="248050"/>
            <a:chOff x="2537325" y="3426725"/>
            <a:chExt cx="334625" cy="248050"/>
          </a:xfrm>
        </p:grpSpPr>
        <p:sp>
          <p:nvSpPr>
            <p:cNvPr id="481" name="Google Shape;481;p36"/>
            <p:cNvSpPr/>
            <p:nvPr/>
          </p:nvSpPr>
          <p:spPr>
            <a:xfrm>
              <a:off x="2625525" y="3457550"/>
              <a:ext cx="54250" cy="54775"/>
            </a:xfrm>
            <a:custGeom>
              <a:avLst/>
              <a:gdLst/>
              <a:ahLst/>
              <a:cxnLst/>
              <a:rect l="l" t="t" r="r" b="b"/>
              <a:pathLst>
                <a:path w="2170" h="2191" extrusionOk="0">
                  <a:moveTo>
                    <a:pt x="1087" y="522"/>
                  </a:moveTo>
                  <a:cubicBezTo>
                    <a:pt x="1398" y="522"/>
                    <a:pt x="1649" y="772"/>
                    <a:pt x="1649" y="1083"/>
                  </a:cubicBezTo>
                  <a:cubicBezTo>
                    <a:pt x="1649" y="1398"/>
                    <a:pt x="1398" y="1669"/>
                    <a:pt x="1087" y="1669"/>
                  </a:cubicBezTo>
                  <a:cubicBezTo>
                    <a:pt x="772" y="1669"/>
                    <a:pt x="521" y="1398"/>
                    <a:pt x="521" y="1083"/>
                  </a:cubicBezTo>
                  <a:cubicBezTo>
                    <a:pt x="521" y="772"/>
                    <a:pt x="772" y="522"/>
                    <a:pt x="1087" y="522"/>
                  </a:cubicBezTo>
                  <a:close/>
                  <a:moveTo>
                    <a:pt x="1087" y="0"/>
                  </a:moveTo>
                  <a:cubicBezTo>
                    <a:pt x="481" y="0"/>
                    <a:pt x="0" y="502"/>
                    <a:pt x="0" y="1083"/>
                  </a:cubicBezTo>
                  <a:cubicBezTo>
                    <a:pt x="0" y="1689"/>
                    <a:pt x="481" y="2190"/>
                    <a:pt x="1087" y="2190"/>
                  </a:cubicBezTo>
                  <a:cubicBezTo>
                    <a:pt x="1694" y="2190"/>
                    <a:pt x="2170" y="1689"/>
                    <a:pt x="2170" y="1083"/>
                  </a:cubicBezTo>
                  <a:cubicBezTo>
                    <a:pt x="2170" y="502"/>
                    <a:pt x="1694" y="0"/>
                    <a:pt x="10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2537325" y="3426725"/>
              <a:ext cx="334625" cy="248050"/>
            </a:xfrm>
            <a:custGeom>
              <a:avLst/>
              <a:gdLst/>
              <a:ahLst/>
              <a:cxnLst/>
              <a:rect l="l" t="t" r="r" b="b"/>
              <a:pathLst>
                <a:path w="13385" h="9922" extrusionOk="0">
                  <a:moveTo>
                    <a:pt x="6700" y="522"/>
                  </a:moveTo>
                  <a:cubicBezTo>
                    <a:pt x="8329" y="522"/>
                    <a:pt x="9877" y="627"/>
                    <a:pt x="11065" y="838"/>
                  </a:cubicBezTo>
                  <a:cubicBezTo>
                    <a:pt x="12568" y="1108"/>
                    <a:pt x="12819" y="1399"/>
                    <a:pt x="12864" y="1464"/>
                  </a:cubicBezTo>
                  <a:cubicBezTo>
                    <a:pt x="12819" y="1504"/>
                    <a:pt x="12528" y="1860"/>
                    <a:pt x="10689" y="2130"/>
                  </a:cubicBezTo>
                  <a:cubicBezTo>
                    <a:pt x="10564" y="2150"/>
                    <a:pt x="10483" y="2256"/>
                    <a:pt x="10483" y="2381"/>
                  </a:cubicBezTo>
                  <a:lnTo>
                    <a:pt x="10483" y="6535"/>
                  </a:lnTo>
                  <a:lnTo>
                    <a:pt x="8935" y="2737"/>
                  </a:lnTo>
                  <a:cubicBezTo>
                    <a:pt x="8895" y="2631"/>
                    <a:pt x="8810" y="2566"/>
                    <a:pt x="8704" y="2566"/>
                  </a:cubicBezTo>
                  <a:cubicBezTo>
                    <a:pt x="8604" y="2566"/>
                    <a:pt x="8499" y="2611"/>
                    <a:pt x="8454" y="2692"/>
                  </a:cubicBezTo>
                  <a:lnTo>
                    <a:pt x="6620" y="5994"/>
                  </a:lnTo>
                  <a:lnTo>
                    <a:pt x="4470" y="4656"/>
                  </a:lnTo>
                  <a:cubicBezTo>
                    <a:pt x="4421" y="4628"/>
                    <a:pt x="4372" y="4613"/>
                    <a:pt x="4324" y="4613"/>
                  </a:cubicBezTo>
                  <a:cubicBezTo>
                    <a:pt x="4267" y="4613"/>
                    <a:pt x="4211" y="4633"/>
                    <a:pt x="4154" y="4676"/>
                  </a:cubicBezTo>
                  <a:cubicBezTo>
                    <a:pt x="4134" y="4696"/>
                    <a:pt x="4114" y="4721"/>
                    <a:pt x="4094" y="4761"/>
                  </a:cubicBezTo>
                  <a:lnTo>
                    <a:pt x="2882" y="6951"/>
                  </a:lnTo>
                  <a:lnTo>
                    <a:pt x="2882" y="2381"/>
                  </a:lnTo>
                  <a:cubicBezTo>
                    <a:pt x="2882" y="2256"/>
                    <a:pt x="2776" y="2150"/>
                    <a:pt x="2651" y="2130"/>
                  </a:cubicBezTo>
                  <a:cubicBezTo>
                    <a:pt x="857" y="1840"/>
                    <a:pt x="562" y="1504"/>
                    <a:pt x="521" y="1464"/>
                  </a:cubicBezTo>
                  <a:cubicBezTo>
                    <a:pt x="562" y="1399"/>
                    <a:pt x="812" y="1108"/>
                    <a:pt x="2315" y="838"/>
                  </a:cubicBezTo>
                  <a:cubicBezTo>
                    <a:pt x="3508" y="627"/>
                    <a:pt x="5051" y="522"/>
                    <a:pt x="6700" y="522"/>
                  </a:cubicBezTo>
                  <a:close/>
                  <a:moveTo>
                    <a:pt x="8644" y="3423"/>
                  </a:moveTo>
                  <a:lnTo>
                    <a:pt x="10293" y="7477"/>
                  </a:lnTo>
                  <a:cubicBezTo>
                    <a:pt x="9231" y="7327"/>
                    <a:pt x="7998" y="7267"/>
                    <a:pt x="6680" y="7267"/>
                  </a:cubicBezTo>
                  <a:cubicBezTo>
                    <a:pt x="5427" y="7267"/>
                    <a:pt x="4240" y="7327"/>
                    <a:pt x="3192" y="7452"/>
                  </a:cubicBezTo>
                  <a:lnTo>
                    <a:pt x="4425" y="5242"/>
                  </a:lnTo>
                  <a:lnTo>
                    <a:pt x="6575" y="6575"/>
                  </a:lnTo>
                  <a:cubicBezTo>
                    <a:pt x="6623" y="6608"/>
                    <a:pt x="6668" y="6628"/>
                    <a:pt x="6723" y="6628"/>
                  </a:cubicBezTo>
                  <a:cubicBezTo>
                    <a:pt x="6742" y="6628"/>
                    <a:pt x="6763" y="6626"/>
                    <a:pt x="6785" y="6620"/>
                  </a:cubicBezTo>
                  <a:cubicBezTo>
                    <a:pt x="6850" y="6600"/>
                    <a:pt x="6911" y="6555"/>
                    <a:pt x="6931" y="6495"/>
                  </a:cubicBezTo>
                  <a:lnTo>
                    <a:pt x="8644" y="3423"/>
                  </a:lnTo>
                  <a:close/>
                  <a:moveTo>
                    <a:pt x="521" y="2090"/>
                  </a:moveTo>
                  <a:cubicBezTo>
                    <a:pt x="647" y="2150"/>
                    <a:pt x="752" y="2191"/>
                    <a:pt x="812" y="2216"/>
                  </a:cubicBezTo>
                  <a:cubicBezTo>
                    <a:pt x="1188" y="2361"/>
                    <a:pt x="1714" y="2506"/>
                    <a:pt x="2361" y="2611"/>
                  </a:cubicBezTo>
                  <a:lnTo>
                    <a:pt x="2361" y="9356"/>
                  </a:lnTo>
                  <a:cubicBezTo>
                    <a:pt x="752" y="9061"/>
                    <a:pt x="541" y="8750"/>
                    <a:pt x="521" y="8730"/>
                  </a:cubicBezTo>
                  <a:lnTo>
                    <a:pt x="521" y="2090"/>
                  </a:lnTo>
                  <a:close/>
                  <a:moveTo>
                    <a:pt x="12864" y="2090"/>
                  </a:moveTo>
                  <a:lnTo>
                    <a:pt x="12864" y="8730"/>
                  </a:lnTo>
                  <a:cubicBezTo>
                    <a:pt x="12819" y="8810"/>
                    <a:pt x="12403" y="9106"/>
                    <a:pt x="11005" y="9356"/>
                  </a:cubicBezTo>
                  <a:lnTo>
                    <a:pt x="11005" y="2611"/>
                  </a:lnTo>
                  <a:cubicBezTo>
                    <a:pt x="11651" y="2506"/>
                    <a:pt x="12172" y="2381"/>
                    <a:pt x="12568" y="2216"/>
                  </a:cubicBezTo>
                  <a:cubicBezTo>
                    <a:pt x="12633" y="2191"/>
                    <a:pt x="12738" y="2150"/>
                    <a:pt x="12864" y="2090"/>
                  </a:cubicBezTo>
                  <a:close/>
                  <a:moveTo>
                    <a:pt x="6680" y="1"/>
                  </a:moveTo>
                  <a:cubicBezTo>
                    <a:pt x="4946" y="1"/>
                    <a:pt x="3318" y="126"/>
                    <a:pt x="2110" y="356"/>
                  </a:cubicBezTo>
                  <a:cubicBezTo>
                    <a:pt x="667" y="627"/>
                    <a:pt x="0" y="963"/>
                    <a:pt x="0" y="1464"/>
                  </a:cubicBezTo>
                  <a:lnTo>
                    <a:pt x="20" y="1464"/>
                  </a:lnTo>
                  <a:lnTo>
                    <a:pt x="0" y="8730"/>
                  </a:lnTo>
                  <a:cubicBezTo>
                    <a:pt x="0" y="9186"/>
                    <a:pt x="607" y="9416"/>
                    <a:pt x="812" y="9482"/>
                  </a:cubicBezTo>
                  <a:cubicBezTo>
                    <a:pt x="1233" y="9647"/>
                    <a:pt x="1839" y="9792"/>
                    <a:pt x="2566" y="9918"/>
                  </a:cubicBezTo>
                  <a:cubicBezTo>
                    <a:pt x="2582" y="9920"/>
                    <a:pt x="2597" y="9921"/>
                    <a:pt x="2612" y="9921"/>
                  </a:cubicBezTo>
                  <a:cubicBezTo>
                    <a:pt x="2717" y="9921"/>
                    <a:pt x="2805" y="9862"/>
                    <a:pt x="2862" y="9752"/>
                  </a:cubicBezTo>
                  <a:cubicBezTo>
                    <a:pt x="2882" y="9732"/>
                    <a:pt x="2882" y="9687"/>
                    <a:pt x="2882" y="9647"/>
                  </a:cubicBezTo>
                  <a:lnTo>
                    <a:pt x="2882" y="8018"/>
                  </a:lnTo>
                  <a:cubicBezTo>
                    <a:pt x="3989" y="7873"/>
                    <a:pt x="5302" y="7788"/>
                    <a:pt x="6700" y="7788"/>
                  </a:cubicBezTo>
                  <a:cubicBezTo>
                    <a:pt x="8058" y="7788"/>
                    <a:pt x="9396" y="7873"/>
                    <a:pt x="10483" y="8018"/>
                  </a:cubicBezTo>
                  <a:lnTo>
                    <a:pt x="10483" y="9667"/>
                  </a:lnTo>
                  <a:cubicBezTo>
                    <a:pt x="10483" y="9732"/>
                    <a:pt x="10503" y="9812"/>
                    <a:pt x="10564" y="9857"/>
                  </a:cubicBezTo>
                  <a:cubicBezTo>
                    <a:pt x="10629" y="9897"/>
                    <a:pt x="10709" y="9918"/>
                    <a:pt x="10774" y="9918"/>
                  </a:cubicBezTo>
                  <a:cubicBezTo>
                    <a:pt x="11526" y="9792"/>
                    <a:pt x="12132" y="9667"/>
                    <a:pt x="12568" y="9502"/>
                  </a:cubicBezTo>
                  <a:cubicBezTo>
                    <a:pt x="12778" y="9416"/>
                    <a:pt x="13385" y="9186"/>
                    <a:pt x="13385" y="8730"/>
                  </a:cubicBezTo>
                  <a:lnTo>
                    <a:pt x="13385" y="1464"/>
                  </a:lnTo>
                  <a:cubicBezTo>
                    <a:pt x="13385" y="963"/>
                    <a:pt x="12713" y="627"/>
                    <a:pt x="11275" y="356"/>
                  </a:cubicBezTo>
                  <a:cubicBezTo>
                    <a:pt x="10042" y="126"/>
                    <a:pt x="8414" y="1"/>
                    <a:pt x="66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36"/>
          <p:cNvGrpSpPr/>
          <p:nvPr/>
        </p:nvGrpSpPr>
        <p:grpSpPr>
          <a:xfrm>
            <a:off x="7274833" y="981400"/>
            <a:ext cx="1199667" cy="568100"/>
            <a:chOff x="7274833" y="981400"/>
            <a:chExt cx="1199667" cy="568100"/>
          </a:xfrm>
        </p:grpSpPr>
        <p:pic>
          <p:nvPicPr>
            <p:cNvPr id="484" name="Google Shape;484;p36"/>
            <p:cNvPicPr preferRelativeResize="0"/>
            <p:nvPr/>
          </p:nvPicPr>
          <p:blipFill rotWithShape="1">
            <a:blip r:embed="rId3">
              <a:alphaModFix/>
            </a:blip>
            <a:srcRect l="13317" t="12502" r="6842" b="9402"/>
            <a:stretch/>
          </p:blipFill>
          <p:spPr>
            <a:xfrm>
              <a:off x="7771475" y="981400"/>
              <a:ext cx="703025" cy="568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5" name="Google Shape;485;p36"/>
            <p:cNvGrpSpPr/>
            <p:nvPr/>
          </p:nvGrpSpPr>
          <p:grpSpPr>
            <a:xfrm>
              <a:off x="7274833" y="1029801"/>
              <a:ext cx="206845" cy="206845"/>
              <a:chOff x="6232675" y="1256675"/>
              <a:chExt cx="261300" cy="261300"/>
            </a:xfrm>
          </p:grpSpPr>
          <p:cxnSp>
            <p:nvCxnSpPr>
              <p:cNvPr id="486" name="Google Shape;486;p36"/>
              <p:cNvCxnSpPr/>
              <p:nvPr/>
            </p:nvCxnSpPr>
            <p:spPr>
              <a:xfrm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36"/>
              <p:cNvCxnSpPr/>
              <p:nvPr/>
            </p:nvCxnSpPr>
            <p:spPr>
              <a:xfrm rot="10800000"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18" name="Picture 2">
            <a:extLst>
              <a:ext uri="{FF2B5EF4-FFF2-40B4-BE49-F238E27FC236}">
                <a16:creationId xmlns:a16="http://schemas.microsoft.com/office/drawing/2014/main" id="{4027362A-679C-5E57-7388-5590783375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73" b="75106"/>
          <a:stretch/>
        </p:blipFill>
        <p:spPr bwMode="auto">
          <a:xfrm>
            <a:off x="3560128" y="1593562"/>
            <a:ext cx="2228439" cy="2305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8E95EF87-ABE7-96D9-4F43-B42A218AF9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74627" b="24296"/>
          <a:stretch/>
        </p:blipFill>
        <p:spPr bwMode="auto">
          <a:xfrm>
            <a:off x="6134824" y="1593563"/>
            <a:ext cx="2120225" cy="2305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6"/>
          <p:cNvSpPr txBox="1">
            <a:spLocks noGrp="1"/>
          </p:cNvSpPr>
          <p:nvPr>
            <p:ph type="title"/>
          </p:nvPr>
        </p:nvSpPr>
        <p:spPr>
          <a:xfrm>
            <a:off x="128480" y="416568"/>
            <a:ext cx="86525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Motivation &amp; Problem</a:t>
            </a:r>
            <a:endParaRPr sz="2800" dirty="0"/>
          </a:p>
        </p:txBody>
      </p:sp>
      <p:sp>
        <p:nvSpPr>
          <p:cNvPr id="463" name="Google Shape;463;p36"/>
          <p:cNvSpPr txBox="1">
            <a:spLocks noGrp="1"/>
          </p:cNvSpPr>
          <p:nvPr>
            <p:ph type="subTitle" idx="5"/>
          </p:nvPr>
        </p:nvSpPr>
        <p:spPr>
          <a:xfrm>
            <a:off x="1643248" y="2311104"/>
            <a:ext cx="22923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u="sng" dirty="0"/>
              <a:t>Low Exercise Adherence</a:t>
            </a:r>
            <a:endParaRPr sz="1600" u="sng" dirty="0"/>
          </a:p>
        </p:txBody>
      </p:sp>
      <p:sp>
        <p:nvSpPr>
          <p:cNvPr id="465" name="Google Shape;465;p36"/>
          <p:cNvSpPr txBox="1">
            <a:spLocks noGrp="1"/>
          </p:cNvSpPr>
          <p:nvPr>
            <p:ph type="subTitle" idx="2"/>
          </p:nvPr>
        </p:nvSpPr>
        <p:spPr>
          <a:xfrm>
            <a:off x="1719448" y="2781729"/>
            <a:ext cx="2292300" cy="16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Many people struggle to maintain exercise routines over time</a:t>
            </a:r>
            <a:endParaRPr sz="1600" dirty="0"/>
          </a:p>
        </p:txBody>
      </p:sp>
      <p:sp>
        <p:nvSpPr>
          <p:cNvPr id="466" name="Google Shape;466;p36"/>
          <p:cNvSpPr txBox="1">
            <a:spLocks noGrp="1"/>
          </p:cNvSpPr>
          <p:nvPr>
            <p:ph type="subTitle" idx="3"/>
          </p:nvPr>
        </p:nvSpPr>
        <p:spPr>
          <a:xfrm>
            <a:off x="4668480" y="2834896"/>
            <a:ext cx="2409484" cy="16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Existing home fitness solutions are often repetitive and lead to low adherence</a:t>
            </a:r>
            <a:endParaRPr sz="1600" dirty="0"/>
          </a:p>
        </p:txBody>
      </p:sp>
      <p:sp>
        <p:nvSpPr>
          <p:cNvPr id="467" name="Google Shape;467;p36"/>
          <p:cNvSpPr txBox="1">
            <a:spLocks noGrp="1"/>
          </p:cNvSpPr>
          <p:nvPr>
            <p:ph type="subTitle" idx="6"/>
          </p:nvPr>
        </p:nvSpPr>
        <p:spPr>
          <a:xfrm>
            <a:off x="4668480" y="2376796"/>
            <a:ext cx="261624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u="sng" dirty="0"/>
              <a:t>Limitations of Current Solutions</a:t>
            </a:r>
            <a:endParaRPr sz="1600" u="sng" dirty="0"/>
          </a:p>
        </p:txBody>
      </p:sp>
      <p:sp>
        <p:nvSpPr>
          <p:cNvPr id="469" name="Google Shape;469;p36"/>
          <p:cNvSpPr/>
          <p:nvPr/>
        </p:nvSpPr>
        <p:spPr>
          <a:xfrm>
            <a:off x="1804223" y="1279050"/>
            <a:ext cx="705900" cy="7059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6"/>
          <p:cNvSpPr/>
          <p:nvPr/>
        </p:nvSpPr>
        <p:spPr>
          <a:xfrm>
            <a:off x="4753255" y="1279050"/>
            <a:ext cx="705900" cy="7059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3" name="Google Shape;483;p36"/>
          <p:cNvGrpSpPr/>
          <p:nvPr/>
        </p:nvGrpSpPr>
        <p:grpSpPr>
          <a:xfrm>
            <a:off x="7274833" y="981400"/>
            <a:ext cx="1199667" cy="568100"/>
            <a:chOff x="7274833" y="981400"/>
            <a:chExt cx="1199667" cy="568100"/>
          </a:xfrm>
        </p:grpSpPr>
        <p:pic>
          <p:nvPicPr>
            <p:cNvPr id="484" name="Google Shape;484;p36"/>
            <p:cNvPicPr preferRelativeResize="0"/>
            <p:nvPr/>
          </p:nvPicPr>
          <p:blipFill rotWithShape="1">
            <a:blip r:embed="rId3">
              <a:alphaModFix/>
            </a:blip>
            <a:srcRect l="13317" t="12502" r="6842" b="9402"/>
            <a:stretch/>
          </p:blipFill>
          <p:spPr>
            <a:xfrm>
              <a:off x="7771475" y="981400"/>
              <a:ext cx="703025" cy="568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5" name="Google Shape;485;p36"/>
            <p:cNvGrpSpPr/>
            <p:nvPr/>
          </p:nvGrpSpPr>
          <p:grpSpPr>
            <a:xfrm>
              <a:off x="7274833" y="1029801"/>
              <a:ext cx="206845" cy="206845"/>
              <a:chOff x="6232675" y="1256675"/>
              <a:chExt cx="261300" cy="261300"/>
            </a:xfrm>
          </p:grpSpPr>
          <p:cxnSp>
            <p:nvCxnSpPr>
              <p:cNvPr id="486" name="Google Shape;486;p36"/>
              <p:cNvCxnSpPr/>
              <p:nvPr/>
            </p:nvCxnSpPr>
            <p:spPr>
              <a:xfrm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36"/>
              <p:cNvCxnSpPr/>
              <p:nvPr/>
            </p:nvCxnSpPr>
            <p:spPr>
              <a:xfrm rot="10800000"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" name="Google Shape;1166;p50">
            <a:extLst>
              <a:ext uri="{FF2B5EF4-FFF2-40B4-BE49-F238E27FC236}">
                <a16:creationId xmlns:a16="http://schemas.microsoft.com/office/drawing/2014/main" id="{D2A0CB6B-6059-E767-4932-99A8AEB4EB6D}"/>
              </a:ext>
            </a:extLst>
          </p:cNvPr>
          <p:cNvGrpSpPr/>
          <p:nvPr/>
        </p:nvGrpSpPr>
        <p:grpSpPr>
          <a:xfrm>
            <a:off x="2018860" y="1463415"/>
            <a:ext cx="276625" cy="334525"/>
            <a:chOff x="7040500" y="1747025"/>
            <a:chExt cx="276625" cy="334525"/>
          </a:xfrm>
        </p:grpSpPr>
        <p:sp>
          <p:nvSpPr>
            <p:cNvPr id="3" name="Google Shape;1167;p50">
              <a:extLst>
                <a:ext uri="{FF2B5EF4-FFF2-40B4-BE49-F238E27FC236}">
                  <a16:creationId xmlns:a16="http://schemas.microsoft.com/office/drawing/2014/main" id="{ECD85E34-63A9-3519-03A6-27F989C7B2C6}"/>
                </a:ext>
              </a:extLst>
            </p:cNvPr>
            <p:cNvSpPr/>
            <p:nvPr/>
          </p:nvSpPr>
          <p:spPr>
            <a:xfrm>
              <a:off x="7040500" y="1747025"/>
              <a:ext cx="276625" cy="334525"/>
            </a:xfrm>
            <a:custGeom>
              <a:avLst/>
              <a:gdLst/>
              <a:ahLst/>
              <a:cxnLst/>
              <a:rect l="l" t="t" r="r" b="b"/>
              <a:pathLst>
                <a:path w="11065" h="13381" extrusionOk="0">
                  <a:moveTo>
                    <a:pt x="8599" y="522"/>
                  </a:moveTo>
                  <a:cubicBezTo>
                    <a:pt x="8750" y="522"/>
                    <a:pt x="8850" y="647"/>
                    <a:pt x="8850" y="792"/>
                  </a:cubicBezTo>
                  <a:lnTo>
                    <a:pt x="8850" y="1188"/>
                  </a:lnTo>
                  <a:lnTo>
                    <a:pt x="7096" y="1188"/>
                  </a:lnTo>
                  <a:cubicBezTo>
                    <a:pt x="6951" y="1188"/>
                    <a:pt x="6846" y="1293"/>
                    <a:pt x="6825" y="1439"/>
                  </a:cubicBezTo>
                  <a:cubicBezTo>
                    <a:pt x="6825" y="1584"/>
                    <a:pt x="6720" y="1709"/>
                    <a:pt x="6575" y="1709"/>
                  </a:cubicBezTo>
                  <a:lnTo>
                    <a:pt x="4490" y="1709"/>
                  </a:lnTo>
                  <a:cubicBezTo>
                    <a:pt x="4340" y="1709"/>
                    <a:pt x="4240" y="1584"/>
                    <a:pt x="4215" y="1439"/>
                  </a:cubicBezTo>
                  <a:cubicBezTo>
                    <a:pt x="4215" y="1293"/>
                    <a:pt x="4115" y="1188"/>
                    <a:pt x="3964" y="1188"/>
                  </a:cubicBezTo>
                  <a:lnTo>
                    <a:pt x="2190" y="1188"/>
                  </a:lnTo>
                  <a:lnTo>
                    <a:pt x="2190" y="792"/>
                  </a:lnTo>
                  <a:cubicBezTo>
                    <a:pt x="2190" y="647"/>
                    <a:pt x="2316" y="522"/>
                    <a:pt x="2461" y="522"/>
                  </a:cubicBezTo>
                  <a:close/>
                  <a:moveTo>
                    <a:pt x="8850" y="1709"/>
                  </a:moveTo>
                  <a:lnTo>
                    <a:pt x="8850" y="5573"/>
                  </a:lnTo>
                  <a:lnTo>
                    <a:pt x="8123" y="3924"/>
                  </a:lnTo>
                  <a:cubicBezTo>
                    <a:pt x="8078" y="3839"/>
                    <a:pt x="7998" y="3779"/>
                    <a:pt x="7893" y="3779"/>
                  </a:cubicBezTo>
                  <a:cubicBezTo>
                    <a:pt x="7879" y="3776"/>
                    <a:pt x="7866" y="3775"/>
                    <a:pt x="7853" y="3775"/>
                  </a:cubicBezTo>
                  <a:cubicBezTo>
                    <a:pt x="7766" y="3775"/>
                    <a:pt x="7697" y="3830"/>
                    <a:pt x="7662" y="3904"/>
                  </a:cubicBezTo>
                  <a:lnTo>
                    <a:pt x="5217" y="8289"/>
                  </a:lnTo>
                  <a:lnTo>
                    <a:pt x="3087" y="6535"/>
                  </a:lnTo>
                  <a:cubicBezTo>
                    <a:pt x="3042" y="6486"/>
                    <a:pt x="2994" y="6462"/>
                    <a:pt x="2938" y="6462"/>
                  </a:cubicBezTo>
                  <a:cubicBezTo>
                    <a:pt x="2920" y="6462"/>
                    <a:pt x="2902" y="6465"/>
                    <a:pt x="2882" y="6470"/>
                  </a:cubicBezTo>
                  <a:cubicBezTo>
                    <a:pt x="2817" y="6470"/>
                    <a:pt x="2757" y="6515"/>
                    <a:pt x="2711" y="6575"/>
                  </a:cubicBezTo>
                  <a:lnTo>
                    <a:pt x="2190" y="7307"/>
                  </a:lnTo>
                  <a:lnTo>
                    <a:pt x="2190" y="1709"/>
                  </a:lnTo>
                  <a:lnTo>
                    <a:pt x="3759" y="1709"/>
                  </a:lnTo>
                  <a:cubicBezTo>
                    <a:pt x="3864" y="2005"/>
                    <a:pt x="4155" y="2231"/>
                    <a:pt x="4490" y="2231"/>
                  </a:cubicBezTo>
                  <a:lnTo>
                    <a:pt x="6575" y="2231"/>
                  </a:lnTo>
                  <a:cubicBezTo>
                    <a:pt x="6911" y="2231"/>
                    <a:pt x="7201" y="2005"/>
                    <a:pt x="7307" y="1709"/>
                  </a:cubicBezTo>
                  <a:close/>
                  <a:moveTo>
                    <a:pt x="1669" y="8975"/>
                  </a:moveTo>
                  <a:lnTo>
                    <a:pt x="1669" y="10293"/>
                  </a:lnTo>
                  <a:lnTo>
                    <a:pt x="772" y="10293"/>
                  </a:lnTo>
                  <a:lnTo>
                    <a:pt x="1669" y="8975"/>
                  </a:lnTo>
                  <a:close/>
                  <a:moveTo>
                    <a:pt x="7848" y="4591"/>
                  </a:moveTo>
                  <a:lnTo>
                    <a:pt x="8850" y="6846"/>
                  </a:lnTo>
                  <a:lnTo>
                    <a:pt x="8850" y="10293"/>
                  </a:lnTo>
                  <a:lnTo>
                    <a:pt x="2190" y="10293"/>
                  </a:lnTo>
                  <a:lnTo>
                    <a:pt x="2190" y="8224"/>
                  </a:lnTo>
                  <a:lnTo>
                    <a:pt x="2987" y="7096"/>
                  </a:lnTo>
                  <a:lnTo>
                    <a:pt x="5117" y="8870"/>
                  </a:lnTo>
                  <a:cubicBezTo>
                    <a:pt x="5177" y="8915"/>
                    <a:pt x="5262" y="8935"/>
                    <a:pt x="5342" y="8935"/>
                  </a:cubicBezTo>
                  <a:cubicBezTo>
                    <a:pt x="5407" y="8915"/>
                    <a:pt x="5467" y="8870"/>
                    <a:pt x="5513" y="8790"/>
                  </a:cubicBezTo>
                  <a:lnTo>
                    <a:pt x="7848" y="4591"/>
                  </a:lnTo>
                  <a:close/>
                  <a:moveTo>
                    <a:pt x="9376" y="8018"/>
                  </a:moveTo>
                  <a:lnTo>
                    <a:pt x="10398" y="10293"/>
                  </a:lnTo>
                  <a:lnTo>
                    <a:pt x="9376" y="10293"/>
                  </a:lnTo>
                  <a:lnTo>
                    <a:pt x="9376" y="8018"/>
                  </a:lnTo>
                  <a:close/>
                  <a:moveTo>
                    <a:pt x="8850" y="10814"/>
                  </a:moveTo>
                  <a:lnTo>
                    <a:pt x="8850" y="11671"/>
                  </a:lnTo>
                  <a:lnTo>
                    <a:pt x="2190" y="11671"/>
                  </a:lnTo>
                  <a:lnTo>
                    <a:pt x="2190" y="10814"/>
                  </a:lnTo>
                  <a:close/>
                  <a:moveTo>
                    <a:pt x="8850" y="12192"/>
                  </a:moveTo>
                  <a:lnTo>
                    <a:pt x="8850" y="12588"/>
                  </a:lnTo>
                  <a:cubicBezTo>
                    <a:pt x="8850" y="12734"/>
                    <a:pt x="8750" y="12859"/>
                    <a:pt x="8599" y="12859"/>
                  </a:cubicBezTo>
                  <a:lnTo>
                    <a:pt x="2461" y="12859"/>
                  </a:lnTo>
                  <a:cubicBezTo>
                    <a:pt x="2316" y="12859"/>
                    <a:pt x="2190" y="12734"/>
                    <a:pt x="2190" y="12588"/>
                  </a:cubicBezTo>
                  <a:lnTo>
                    <a:pt x="2190" y="12192"/>
                  </a:lnTo>
                  <a:close/>
                  <a:moveTo>
                    <a:pt x="2461" y="1"/>
                  </a:moveTo>
                  <a:cubicBezTo>
                    <a:pt x="2025" y="1"/>
                    <a:pt x="1669" y="351"/>
                    <a:pt x="1669" y="792"/>
                  </a:cubicBezTo>
                  <a:lnTo>
                    <a:pt x="1669" y="8058"/>
                  </a:lnTo>
                  <a:lnTo>
                    <a:pt x="61" y="10399"/>
                  </a:lnTo>
                  <a:cubicBezTo>
                    <a:pt x="0" y="10479"/>
                    <a:pt x="0" y="10584"/>
                    <a:pt x="41" y="10669"/>
                  </a:cubicBezTo>
                  <a:cubicBezTo>
                    <a:pt x="81" y="10749"/>
                    <a:pt x="166" y="10814"/>
                    <a:pt x="271" y="10814"/>
                  </a:cubicBezTo>
                  <a:lnTo>
                    <a:pt x="1669" y="10814"/>
                  </a:lnTo>
                  <a:lnTo>
                    <a:pt x="1669" y="12588"/>
                  </a:lnTo>
                  <a:cubicBezTo>
                    <a:pt x="1669" y="13029"/>
                    <a:pt x="2025" y="13380"/>
                    <a:pt x="2461" y="13380"/>
                  </a:cubicBezTo>
                  <a:lnTo>
                    <a:pt x="8599" y="13380"/>
                  </a:lnTo>
                  <a:cubicBezTo>
                    <a:pt x="9040" y="13380"/>
                    <a:pt x="9376" y="13029"/>
                    <a:pt x="9376" y="12588"/>
                  </a:cubicBezTo>
                  <a:lnTo>
                    <a:pt x="9376" y="10814"/>
                  </a:lnTo>
                  <a:lnTo>
                    <a:pt x="10794" y="10835"/>
                  </a:lnTo>
                  <a:cubicBezTo>
                    <a:pt x="10899" y="10814"/>
                    <a:pt x="10980" y="10774"/>
                    <a:pt x="11025" y="10709"/>
                  </a:cubicBezTo>
                  <a:cubicBezTo>
                    <a:pt x="11065" y="10624"/>
                    <a:pt x="11065" y="10544"/>
                    <a:pt x="11045" y="10459"/>
                  </a:cubicBezTo>
                  <a:lnTo>
                    <a:pt x="9416" y="6740"/>
                  </a:lnTo>
                  <a:lnTo>
                    <a:pt x="9416" y="792"/>
                  </a:lnTo>
                  <a:cubicBezTo>
                    <a:pt x="9416" y="351"/>
                    <a:pt x="9060" y="1"/>
                    <a:pt x="86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68;p50">
              <a:extLst>
                <a:ext uri="{FF2B5EF4-FFF2-40B4-BE49-F238E27FC236}">
                  <a16:creationId xmlns:a16="http://schemas.microsoft.com/office/drawing/2014/main" id="{C94D1EDE-E40D-B2CE-0912-F3F927DBEC61}"/>
                </a:ext>
              </a:extLst>
            </p:cNvPr>
            <p:cNvSpPr/>
            <p:nvPr/>
          </p:nvSpPr>
          <p:spPr>
            <a:xfrm>
              <a:off x="7111400" y="1823200"/>
              <a:ext cx="86225" cy="59025"/>
            </a:xfrm>
            <a:custGeom>
              <a:avLst/>
              <a:gdLst/>
              <a:ahLst/>
              <a:cxnLst/>
              <a:rect l="l" t="t" r="r" b="b"/>
              <a:pathLst>
                <a:path w="3449" h="2361" extrusionOk="0">
                  <a:moveTo>
                    <a:pt x="1193" y="521"/>
                  </a:moveTo>
                  <a:cubicBezTo>
                    <a:pt x="1464" y="521"/>
                    <a:pt x="1714" y="712"/>
                    <a:pt x="1800" y="983"/>
                  </a:cubicBezTo>
                  <a:cubicBezTo>
                    <a:pt x="1840" y="1088"/>
                    <a:pt x="1945" y="1168"/>
                    <a:pt x="2050" y="1168"/>
                  </a:cubicBezTo>
                  <a:lnTo>
                    <a:pt x="2486" y="1168"/>
                  </a:lnTo>
                  <a:cubicBezTo>
                    <a:pt x="2631" y="1168"/>
                    <a:pt x="2782" y="1253"/>
                    <a:pt x="2822" y="1398"/>
                  </a:cubicBezTo>
                  <a:cubicBezTo>
                    <a:pt x="2907" y="1629"/>
                    <a:pt x="2717" y="1839"/>
                    <a:pt x="2506" y="1839"/>
                  </a:cubicBezTo>
                  <a:lnTo>
                    <a:pt x="1193" y="1839"/>
                  </a:lnTo>
                  <a:cubicBezTo>
                    <a:pt x="817" y="1839"/>
                    <a:pt x="527" y="1544"/>
                    <a:pt x="527" y="1188"/>
                  </a:cubicBezTo>
                  <a:cubicBezTo>
                    <a:pt x="527" y="812"/>
                    <a:pt x="817" y="521"/>
                    <a:pt x="1193" y="521"/>
                  </a:cubicBezTo>
                  <a:close/>
                  <a:moveTo>
                    <a:pt x="1193" y="0"/>
                  </a:moveTo>
                  <a:cubicBezTo>
                    <a:pt x="547" y="0"/>
                    <a:pt x="1" y="542"/>
                    <a:pt x="1" y="1188"/>
                  </a:cubicBezTo>
                  <a:cubicBezTo>
                    <a:pt x="1" y="1839"/>
                    <a:pt x="547" y="2361"/>
                    <a:pt x="1193" y="2361"/>
                  </a:cubicBezTo>
                  <a:lnTo>
                    <a:pt x="2486" y="2361"/>
                  </a:lnTo>
                  <a:cubicBezTo>
                    <a:pt x="2862" y="2361"/>
                    <a:pt x="3258" y="2045"/>
                    <a:pt x="3343" y="1669"/>
                  </a:cubicBezTo>
                  <a:cubicBezTo>
                    <a:pt x="3448" y="1128"/>
                    <a:pt x="3007" y="647"/>
                    <a:pt x="2486" y="647"/>
                  </a:cubicBezTo>
                  <a:lnTo>
                    <a:pt x="2236" y="647"/>
                  </a:lnTo>
                  <a:cubicBezTo>
                    <a:pt x="2030" y="251"/>
                    <a:pt x="1629" y="0"/>
                    <a:pt x="11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1123;p50">
            <a:extLst>
              <a:ext uri="{FF2B5EF4-FFF2-40B4-BE49-F238E27FC236}">
                <a16:creationId xmlns:a16="http://schemas.microsoft.com/office/drawing/2014/main" id="{054B08C8-A86C-F9D3-5EBF-803B7C2267D4}"/>
              </a:ext>
            </a:extLst>
          </p:cNvPr>
          <p:cNvGrpSpPr/>
          <p:nvPr/>
        </p:nvGrpSpPr>
        <p:grpSpPr>
          <a:xfrm>
            <a:off x="4938630" y="1463415"/>
            <a:ext cx="335150" cy="334175"/>
            <a:chOff x="1737675" y="2290825"/>
            <a:chExt cx="335150" cy="334175"/>
          </a:xfrm>
        </p:grpSpPr>
        <p:sp>
          <p:nvSpPr>
            <p:cNvPr id="6" name="Google Shape;1124;p50">
              <a:extLst>
                <a:ext uri="{FF2B5EF4-FFF2-40B4-BE49-F238E27FC236}">
                  <a16:creationId xmlns:a16="http://schemas.microsoft.com/office/drawing/2014/main" id="{A0D56123-9EA7-89C6-8E31-3772EB2C6BC2}"/>
                </a:ext>
              </a:extLst>
            </p:cNvPr>
            <p:cNvSpPr/>
            <p:nvPr/>
          </p:nvSpPr>
          <p:spPr>
            <a:xfrm>
              <a:off x="1737675" y="2290825"/>
              <a:ext cx="335150" cy="334175"/>
            </a:xfrm>
            <a:custGeom>
              <a:avLst/>
              <a:gdLst/>
              <a:ahLst/>
              <a:cxnLst/>
              <a:rect l="l" t="t" r="r" b="b"/>
              <a:pathLst>
                <a:path w="13406" h="13367" extrusionOk="0">
                  <a:moveTo>
                    <a:pt x="6345" y="2111"/>
                  </a:moveTo>
                  <a:cubicBezTo>
                    <a:pt x="6806" y="2111"/>
                    <a:pt x="7242" y="2196"/>
                    <a:pt x="7683" y="2342"/>
                  </a:cubicBezTo>
                  <a:cubicBezTo>
                    <a:pt x="7663" y="2507"/>
                    <a:pt x="7643" y="2698"/>
                    <a:pt x="7643" y="2883"/>
                  </a:cubicBezTo>
                  <a:cubicBezTo>
                    <a:pt x="7643" y="3304"/>
                    <a:pt x="7723" y="3700"/>
                    <a:pt x="7893" y="4055"/>
                  </a:cubicBezTo>
                  <a:lnTo>
                    <a:pt x="6410" y="4055"/>
                  </a:lnTo>
                  <a:cubicBezTo>
                    <a:pt x="6410" y="3635"/>
                    <a:pt x="6074" y="3304"/>
                    <a:pt x="5658" y="3304"/>
                  </a:cubicBezTo>
                  <a:lnTo>
                    <a:pt x="3358" y="3304"/>
                  </a:lnTo>
                  <a:cubicBezTo>
                    <a:pt x="4110" y="2527"/>
                    <a:pt x="5157" y="2111"/>
                    <a:pt x="6345" y="2111"/>
                  </a:cubicBezTo>
                  <a:close/>
                  <a:moveTo>
                    <a:pt x="10499" y="523"/>
                  </a:moveTo>
                  <a:cubicBezTo>
                    <a:pt x="11797" y="523"/>
                    <a:pt x="12859" y="1590"/>
                    <a:pt x="12859" y="2883"/>
                  </a:cubicBezTo>
                  <a:cubicBezTo>
                    <a:pt x="12859" y="4181"/>
                    <a:pt x="11797" y="5223"/>
                    <a:pt x="10499" y="5223"/>
                  </a:cubicBezTo>
                  <a:cubicBezTo>
                    <a:pt x="9206" y="5223"/>
                    <a:pt x="8164" y="4181"/>
                    <a:pt x="8164" y="2883"/>
                  </a:cubicBezTo>
                  <a:cubicBezTo>
                    <a:pt x="8164" y="1590"/>
                    <a:pt x="9206" y="523"/>
                    <a:pt x="10499" y="523"/>
                  </a:cubicBezTo>
                  <a:close/>
                  <a:moveTo>
                    <a:pt x="4405" y="3825"/>
                  </a:moveTo>
                  <a:lnTo>
                    <a:pt x="4405" y="4532"/>
                  </a:lnTo>
                  <a:cubicBezTo>
                    <a:pt x="4405" y="4932"/>
                    <a:pt x="4070" y="5263"/>
                    <a:pt x="3674" y="5263"/>
                  </a:cubicBezTo>
                  <a:lnTo>
                    <a:pt x="522" y="5263"/>
                  </a:lnTo>
                  <a:lnTo>
                    <a:pt x="522" y="4702"/>
                  </a:lnTo>
                  <a:cubicBezTo>
                    <a:pt x="522" y="4221"/>
                    <a:pt x="918" y="3825"/>
                    <a:pt x="1419" y="3825"/>
                  </a:cubicBezTo>
                  <a:close/>
                  <a:moveTo>
                    <a:pt x="8184" y="4577"/>
                  </a:moveTo>
                  <a:cubicBezTo>
                    <a:pt x="8705" y="5283"/>
                    <a:pt x="9542" y="5744"/>
                    <a:pt x="10499" y="5744"/>
                  </a:cubicBezTo>
                  <a:cubicBezTo>
                    <a:pt x="10709" y="5744"/>
                    <a:pt x="10920" y="5724"/>
                    <a:pt x="11105" y="5684"/>
                  </a:cubicBezTo>
                  <a:lnTo>
                    <a:pt x="11105" y="5995"/>
                  </a:lnTo>
                  <a:cubicBezTo>
                    <a:pt x="11105" y="6225"/>
                    <a:pt x="10920" y="6411"/>
                    <a:pt x="10709" y="6411"/>
                  </a:cubicBezTo>
                  <a:lnTo>
                    <a:pt x="6410" y="6411"/>
                  </a:lnTo>
                  <a:lnTo>
                    <a:pt x="6410" y="4577"/>
                  </a:lnTo>
                  <a:close/>
                  <a:moveTo>
                    <a:pt x="5638" y="3825"/>
                  </a:moveTo>
                  <a:cubicBezTo>
                    <a:pt x="5784" y="3825"/>
                    <a:pt x="5889" y="3930"/>
                    <a:pt x="5889" y="4055"/>
                  </a:cubicBezTo>
                  <a:lnTo>
                    <a:pt x="5889" y="6977"/>
                  </a:lnTo>
                  <a:cubicBezTo>
                    <a:pt x="5889" y="7102"/>
                    <a:pt x="5784" y="7207"/>
                    <a:pt x="5638" y="7207"/>
                  </a:cubicBezTo>
                  <a:lnTo>
                    <a:pt x="1399" y="7207"/>
                  </a:lnTo>
                  <a:cubicBezTo>
                    <a:pt x="918" y="7207"/>
                    <a:pt x="522" y="6812"/>
                    <a:pt x="522" y="6331"/>
                  </a:cubicBezTo>
                  <a:lnTo>
                    <a:pt x="522" y="5784"/>
                  </a:lnTo>
                  <a:lnTo>
                    <a:pt x="3674" y="5784"/>
                  </a:lnTo>
                  <a:cubicBezTo>
                    <a:pt x="4360" y="5784"/>
                    <a:pt x="4927" y="5223"/>
                    <a:pt x="4927" y="4532"/>
                  </a:cubicBezTo>
                  <a:lnTo>
                    <a:pt x="4927" y="3825"/>
                  </a:lnTo>
                  <a:close/>
                  <a:moveTo>
                    <a:pt x="10439" y="6937"/>
                  </a:moveTo>
                  <a:cubicBezTo>
                    <a:pt x="10354" y="7729"/>
                    <a:pt x="10063" y="8500"/>
                    <a:pt x="9582" y="9147"/>
                  </a:cubicBezTo>
                  <a:cubicBezTo>
                    <a:pt x="9562" y="9192"/>
                    <a:pt x="9542" y="9232"/>
                    <a:pt x="9542" y="9292"/>
                  </a:cubicBezTo>
                  <a:lnTo>
                    <a:pt x="9542" y="12845"/>
                  </a:lnTo>
                  <a:lnTo>
                    <a:pt x="5262" y="12845"/>
                  </a:lnTo>
                  <a:lnTo>
                    <a:pt x="5262" y="11382"/>
                  </a:lnTo>
                  <a:lnTo>
                    <a:pt x="6074" y="11256"/>
                  </a:lnTo>
                  <a:cubicBezTo>
                    <a:pt x="6219" y="11236"/>
                    <a:pt x="6305" y="11111"/>
                    <a:pt x="6305" y="10966"/>
                  </a:cubicBezTo>
                  <a:cubicBezTo>
                    <a:pt x="6286" y="10832"/>
                    <a:pt x="6179" y="10733"/>
                    <a:pt x="6030" y="10733"/>
                  </a:cubicBezTo>
                  <a:cubicBezTo>
                    <a:pt x="6017" y="10733"/>
                    <a:pt x="6003" y="10734"/>
                    <a:pt x="5989" y="10735"/>
                  </a:cubicBezTo>
                  <a:lnTo>
                    <a:pt x="3007" y="11236"/>
                  </a:lnTo>
                  <a:cubicBezTo>
                    <a:pt x="2962" y="11236"/>
                    <a:pt x="2942" y="11216"/>
                    <a:pt x="2902" y="11196"/>
                  </a:cubicBezTo>
                  <a:cubicBezTo>
                    <a:pt x="2837" y="11151"/>
                    <a:pt x="2797" y="11046"/>
                    <a:pt x="2797" y="10986"/>
                  </a:cubicBezTo>
                  <a:lnTo>
                    <a:pt x="2797" y="8771"/>
                  </a:lnTo>
                  <a:cubicBezTo>
                    <a:pt x="2797" y="8751"/>
                    <a:pt x="2797" y="8711"/>
                    <a:pt x="2777" y="8666"/>
                  </a:cubicBezTo>
                  <a:cubicBezTo>
                    <a:pt x="2712" y="8520"/>
                    <a:pt x="2566" y="8520"/>
                    <a:pt x="2461" y="8520"/>
                  </a:cubicBezTo>
                  <a:lnTo>
                    <a:pt x="1775" y="8520"/>
                  </a:lnTo>
                  <a:cubicBezTo>
                    <a:pt x="1689" y="8520"/>
                    <a:pt x="1584" y="8460"/>
                    <a:pt x="1544" y="8395"/>
                  </a:cubicBezTo>
                  <a:cubicBezTo>
                    <a:pt x="1504" y="8355"/>
                    <a:pt x="1504" y="8335"/>
                    <a:pt x="1524" y="8335"/>
                  </a:cubicBezTo>
                  <a:lnTo>
                    <a:pt x="1669" y="7729"/>
                  </a:lnTo>
                  <a:lnTo>
                    <a:pt x="5638" y="7729"/>
                  </a:lnTo>
                  <a:cubicBezTo>
                    <a:pt x="6054" y="7729"/>
                    <a:pt x="6410" y="7393"/>
                    <a:pt x="6410" y="6977"/>
                  </a:cubicBezTo>
                  <a:lnTo>
                    <a:pt x="6410" y="6937"/>
                  </a:lnTo>
                  <a:close/>
                  <a:moveTo>
                    <a:pt x="10511" y="0"/>
                  </a:moveTo>
                  <a:cubicBezTo>
                    <a:pt x="9297" y="0"/>
                    <a:pt x="8234" y="761"/>
                    <a:pt x="7828" y="1841"/>
                  </a:cubicBezTo>
                  <a:cubicBezTo>
                    <a:pt x="7347" y="1675"/>
                    <a:pt x="6846" y="1590"/>
                    <a:pt x="6345" y="1590"/>
                  </a:cubicBezTo>
                  <a:cubicBezTo>
                    <a:pt x="4841" y="1590"/>
                    <a:pt x="3549" y="2196"/>
                    <a:pt x="2692" y="3304"/>
                  </a:cubicBezTo>
                  <a:lnTo>
                    <a:pt x="1399" y="3304"/>
                  </a:lnTo>
                  <a:cubicBezTo>
                    <a:pt x="627" y="3304"/>
                    <a:pt x="1" y="3930"/>
                    <a:pt x="1" y="4702"/>
                  </a:cubicBezTo>
                  <a:lnTo>
                    <a:pt x="1" y="6331"/>
                  </a:lnTo>
                  <a:cubicBezTo>
                    <a:pt x="1" y="7017"/>
                    <a:pt x="502" y="7603"/>
                    <a:pt x="1148" y="7709"/>
                  </a:cubicBezTo>
                  <a:lnTo>
                    <a:pt x="1023" y="8190"/>
                  </a:lnTo>
                  <a:cubicBezTo>
                    <a:pt x="958" y="8375"/>
                    <a:pt x="1003" y="8565"/>
                    <a:pt x="1128" y="8711"/>
                  </a:cubicBezTo>
                  <a:cubicBezTo>
                    <a:pt x="1274" y="8916"/>
                    <a:pt x="1524" y="9041"/>
                    <a:pt x="1775" y="9041"/>
                  </a:cubicBezTo>
                  <a:lnTo>
                    <a:pt x="2276" y="9041"/>
                  </a:lnTo>
                  <a:lnTo>
                    <a:pt x="2276" y="10986"/>
                  </a:lnTo>
                  <a:cubicBezTo>
                    <a:pt x="2276" y="11216"/>
                    <a:pt x="2381" y="11447"/>
                    <a:pt x="2566" y="11592"/>
                  </a:cubicBezTo>
                  <a:cubicBezTo>
                    <a:pt x="2682" y="11691"/>
                    <a:pt x="2825" y="11750"/>
                    <a:pt x="2972" y="11750"/>
                  </a:cubicBezTo>
                  <a:cubicBezTo>
                    <a:pt x="3010" y="11750"/>
                    <a:pt x="3049" y="11746"/>
                    <a:pt x="3088" y="11737"/>
                  </a:cubicBezTo>
                  <a:lnTo>
                    <a:pt x="4736" y="11467"/>
                  </a:lnTo>
                  <a:lnTo>
                    <a:pt x="4736" y="13115"/>
                  </a:lnTo>
                  <a:cubicBezTo>
                    <a:pt x="4736" y="13261"/>
                    <a:pt x="4841" y="13366"/>
                    <a:pt x="4987" y="13366"/>
                  </a:cubicBezTo>
                  <a:lnTo>
                    <a:pt x="9792" y="13366"/>
                  </a:lnTo>
                  <a:cubicBezTo>
                    <a:pt x="9938" y="13366"/>
                    <a:pt x="10063" y="13261"/>
                    <a:pt x="10063" y="13115"/>
                  </a:cubicBezTo>
                  <a:lnTo>
                    <a:pt x="10063" y="9377"/>
                  </a:lnTo>
                  <a:cubicBezTo>
                    <a:pt x="10564" y="8646"/>
                    <a:pt x="10875" y="7789"/>
                    <a:pt x="10960" y="6892"/>
                  </a:cubicBezTo>
                  <a:cubicBezTo>
                    <a:pt x="11336" y="6766"/>
                    <a:pt x="11626" y="6411"/>
                    <a:pt x="11626" y="5995"/>
                  </a:cubicBezTo>
                  <a:lnTo>
                    <a:pt x="11626" y="5514"/>
                  </a:lnTo>
                  <a:cubicBezTo>
                    <a:pt x="12674" y="5078"/>
                    <a:pt x="13405" y="4010"/>
                    <a:pt x="13360" y="2803"/>
                  </a:cubicBezTo>
                  <a:cubicBezTo>
                    <a:pt x="13320" y="1299"/>
                    <a:pt x="12107" y="67"/>
                    <a:pt x="10604" y="2"/>
                  </a:cubicBezTo>
                  <a:cubicBezTo>
                    <a:pt x="10573" y="1"/>
                    <a:pt x="10542" y="0"/>
                    <a:pt x="10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25;p50">
              <a:extLst>
                <a:ext uri="{FF2B5EF4-FFF2-40B4-BE49-F238E27FC236}">
                  <a16:creationId xmlns:a16="http://schemas.microsoft.com/office/drawing/2014/main" id="{B687C819-E7B5-F855-5409-26D1ED29AF73}"/>
                </a:ext>
              </a:extLst>
            </p:cNvPr>
            <p:cNvSpPr/>
            <p:nvPr/>
          </p:nvSpPr>
          <p:spPr>
            <a:xfrm>
              <a:off x="1956300" y="2330075"/>
              <a:ext cx="88325" cy="28550"/>
            </a:xfrm>
            <a:custGeom>
              <a:avLst/>
              <a:gdLst/>
              <a:ahLst/>
              <a:cxnLst/>
              <a:rect l="l" t="t" r="r" b="b"/>
              <a:pathLst>
                <a:path w="3533" h="1142" extrusionOk="0">
                  <a:moveTo>
                    <a:pt x="1754" y="0"/>
                  </a:moveTo>
                  <a:cubicBezTo>
                    <a:pt x="1128" y="0"/>
                    <a:pt x="546" y="251"/>
                    <a:pt x="105" y="687"/>
                  </a:cubicBezTo>
                  <a:cubicBezTo>
                    <a:pt x="0" y="792"/>
                    <a:pt x="0" y="957"/>
                    <a:pt x="105" y="1062"/>
                  </a:cubicBezTo>
                  <a:cubicBezTo>
                    <a:pt x="158" y="1115"/>
                    <a:pt x="221" y="1141"/>
                    <a:pt x="283" y="1141"/>
                  </a:cubicBezTo>
                  <a:cubicBezTo>
                    <a:pt x="346" y="1141"/>
                    <a:pt x="408" y="1115"/>
                    <a:pt x="461" y="1062"/>
                  </a:cubicBezTo>
                  <a:cubicBezTo>
                    <a:pt x="817" y="707"/>
                    <a:pt x="1278" y="521"/>
                    <a:pt x="1754" y="521"/>
                  </a:cubicBezTo>
                  <a:cubicBezTo>
                    <a:pt x="2255" y="521"/>
                    <a:pt x="2716" y="707"/>
                    <a:pt x="3052" y="1062"/>
                  </a:cubicBezTo>
                  <a:cubicBezTo>
                    <a:pt x="3112" y="1107"/>
                    <a:pt x="3177" y="1128"/>
                    <a:pt x="3237" y="1128"/>
                  </a:cubicBezTo>
                  <a:cubicBezTo>
                    <a:pt x="3302" y="1128"/>
                    <a:pt x="3362" y="1107"/>
                    <a:pt x="3428" y="1062"/>
                  </a:cubicBezTo>
                  <a:cubicBezTo>
                    <a:pt x="3533" y="957"/>
                    <a:pt x="3533" y="792"/>
                    <a:pt x="3428" y="687"/>
                  </a:cubicBezTo>
                  <a:cubicBezTo>
                    <a:pt x="2987" y="251"/>
                    <a:pt x="2380" y="0"/>
                    <a:pt x="17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26;p50">
              <a:extLst>
                <a:ext uri="{FF2B5EF4-FFF2-40B4-BE49-F238E27FC236}">
                  <a16:creationId xmlns:a16="http://schemas.microsoft.com/office/drawing/2014/main" id="{9DDAC415-D528-64DA-0BF5-6EBE17C42EBE}"/>
                </a:ext>
              </a:extLst>
            </p:cNvPr>
            <p:cNvSpPr/>
            <p:nvPr/>
          </p:nvSpPr>
          <p:spPr>
            <a:xfrm>
              <a:off x="1974575" y="2356125"/>
              <a:ext cx="51275" cy="20950"/>
            </a:xfrm>
            <a:custGeom>
              <a:avLst/>
              <a:gdLst/>
              <a:ahLst/>
              <a:cxnLst/>
              <a:rect l="l" t="t" r="r" b="b"/>
              <a:pathLst>
                <a:path w="2051" h="838" extrusionOk="0">
                  <a:moveTo>
                    <a:pt x="1023" y="0"/>
                  </a:moveTo>
                  <a:cubicBezTo>
                    <a:pt x="692" y="0"/>
                    <a:pt x="356" y="146"/>
                    <a:pt x="106" y="376"/>
                  </a:cubicBezTo>
                  <a:cubicBezTo>
                    <a:pt x="1" y="481"/>
                    <a:pt x="1" y="647"/>
                    <a:pt x="106" y="752"/>
                  </a:cubicBezTo>
                  <a:cubicBezTo>
                    <a:pt x="159" y="805"/>
                    <a:pt x="226" y="831"/>
                    <a:pt x="294" y="831"/>
                  </a:cubicBezTo>
                  <a:cubicBezTo>
                    <a:pt x="361" y="831"/>
                    <a:pt x="429" y="805"/>
                    <a:pt x="482" y="752"/>
                  </a:cubicBezTo>
                  <a:cubicBezTo>
                    <a:pt x="627" y="607"/>
                    <a:pt x="817" y="521"/>
                    <a:pt x="1023" y="521"/>
                  </a:cubicBezTo>
                  <a:cubicBezTo>
                    <a:pt x="1233" y="521"/>
                    <a:pt x="1444" y="607"/>
                    <a:pt x="1589" y="752"/>
                  </a:cubicBezTo>
                  <a:cubicBezTo>
                    <a:pt x="1629" y="817"/>
                    <a:pt x="1694" y="837"/>
                    <a:pt x="1775" y="837"/>
                  </a:cubicBezTo>
                  <a:cubicBezTo>
                    <a:pt x="1840" y="837"/>
                    <a:pt x="1900" y="817"/>
                    <a:pt x="1945" y="752"/>
                  </a:cubicBezTo>
                  <a:cubicBezTo>
                    <a:pt x="2050" y="647"/>
                    <a:pt x="2050" y="481"/>
                    <a:pt x="1945" y="376"/>
                  </a:cubicBezTo>
                  <a:cubicBezTo>
                    <a:pt x="1714" y="146"/>
                    <a:pt x="1379" y="0"/>
                    <a:pt x="10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27;p50">
              <a:extLst>
                <a:ext uri="{FF2B5EF4-FFF2-40B4-BE49-F238E27FC236}">
                  <a16:creationId xmlns:a16="http://schemas.microsoft.com/office/drawing/2014/main" id="{4FED0F8C-6D90-B506-A92B-2858A12FCEF3}"/>
                </a:ext>
              </a:extLst>
            </p:cNvPr>
            <p:cNvSpPr/>
            <p:nvPr/>
          </p:nvSpPr>
          <p:spPr>
            <a:xfrm>
              <a:off x="1991875" y="2382175"/>
              <a:ext cx="16675" cy="13175"/>
            </a:xfrm>
            <a:custGeom>
              <a:avLst/>
              <a:gdLst/>
              <a:ahLst/>
              <a:cxnLst/>
              <a:rect l="l" t="t" r="r" b="b"/>
              <a:pathLst>
                <a:path w="667" h="527" extrusionOk="0">
                  <a:moveTo>
                    <a:pt x="331" y="1"/>
                  </a:moveTo>
                  <a:cubicBezTo>
                    <a:pt x="146" y="1"/>
                    <a:pt x="0" y="211"/>
                    <a:pt x="125" y="422"/>
                  </a:cubicBezTo>
                  <a:cubicBezTo>
                    <a:pt x="166" y="482"/>
                    <a:pt x="231" y="527"/>
                    <a:pt x="311" y="527"/>
                  </a:cubicBezTo>
                  <a:lnTo>
                    <a:pt x="356" y="527"/>
                  </a:lnTo>
                  <a:cubicBezTo>
                    <a:pt x="436" y="527"/>
                    <a:pt x="521" y="482"/>
                    <a:pt x="561" y="401"/>
                  </a:cubicBezTo>
                  <a:cubicBezTo>
                    <a:pt x="667" y="191"/>
                    <a:pt x="521" y="1"/>
                    <a:pt x="3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56062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"/>
          <p:cNvSpPr txBox="1">
            <a:spLocks noGrp="1"/>
          </p:cNvSpPr>
          <p:nvPr>
            <p:ph type="subTitle" idx="4"/>
          </p:nvPr>
        </p:nvSpPr>
        <p:spPr>
          <a:xfrm>
            <a:off x="4987762" y="2571750"/>
            <a:ext cx="3295178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u="sng" dirty="0"/>
              <a:t>Ring Fit Adventure</a:t>
            </a:r>
            <a:endParaRPr sz="1600" u="sng" dirty="0"/>
          </a:p>
        </p:txBody>
      </p:sp>
      <p:sp>
        <p:nvSpPr>
          <p:cNvPr id="434" name="Google Shape;434;p35"/>
          <p:cNvSpPr txBox="1">
            <a:spLocks noGrp="1"/>
          </p:cNvSpPr>
          <p:nvPr>
            <p:ph type="title"/>
          </p:nvPr>
        </p:nvSpPr>
        <p:spPr>
          <a:xfrm>
            <a:off x="47226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Existing Solutions &amp; Gaps</a:t>
            </a:r>
            <a:endParaRPr sz="2800" dirty="0"/>
          </a:p>
        </p:txBody>
      </p:sp>
      <p:sp>
        <p:nvSpPr>
          <p:cNvPr id="435" name="Google Shape;435;p35"/>
          <p:cNvSpPr txBox="1">
            <a:spLocks noGrp="1"/>
          </p:cNvSpPr>
          <p:nvPr>
            <p:ph type="subTitle" idx="1"/>
          </p:nvPr>
        </p:nvSpPr>
        <p:spPr>
          <a:xfrm>
            <a:off x="4983510" y="2942875"/>
            <a:ext cx="336129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encourages structured exercise, but its limited immersion and non-VR experience reduce long-term engagement and motivation.</a:t>
            </a:r>
            <a:endParaRPr sz="1600" dirty="0"/>
          </a:p>
        </p:txBody>
      </p:sp>
      <p:sp>
        <p:nvSpPr>
          <p:cNvPr id="436" name="Google Shape;436;p35"/>
          <p:cNvSpPr txBox="1">
            <a:spLocks noGrp="1"/>
          </p:cNvSpPr>
          <p:nvPr>
            <p:ph type="subTitle" idx="2"/>
          </p:nvPr>
        </p:nvSpPr>
        <p:spPr>
          <a:xfrm>
            <a:off x="1173434" y="2942875"/>
            <a:ext cx="2887365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promotes physical activity through rhythm-based upper-body movement but lacks full-body engagement and long-term progression mechanics</a:t>
            </a:r>
            <a:endParaRPr sz="1600" dirty="0"/>
          </a:p>
        </p:txBody>
      </p:sp>
      <p:sp>
        <p:nvSpPr>
          <p:cNvPr id="437" name="Google Shape;437;p35"/>
          <p:cNvSpPr txBox="1">
            <a:spLocks noGrp="1"/>
          </p:cNvSpPr>
          <p:nvPr>
            <p:ph type="subTitle" idx="3"/>
          </p:nvPr>
        </p:nvSpPr>
        <p:spPr>
          <a:xfrm>
            <a:off x="1173435" y="2571750"/>
            <a:ext cx="25965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u="sng" dirty="0"/>
              <a:t>Beat Saber</a:t>
            </a:r>
            <a:endParaRPr sz="1600" u="sng" dirty="0"/>
          </a:p>
        </p:txBody>
      </p:sp>
      <p:grpSp>
        <p:nvGrpSpPr>
          <p:cNvPr id="438" name="Google Shape;438;p35"/>
          <p:cNvGrpSpPr/>
          <p:nvPr/>
        </p:nvGrpSpPr>
        <p:grpSpPr>
          <a:xfrm>
            <a:off x="7439550" y="187601"/>
            <a:ext cx="1552436" cy="1087548"/>
            <a:chOff x="7098841" y="932077"/>
            <a:chExt cx="1552436" cy="1087548"/>
          </a:xfrm>
        </p:grpSpPr>
        <p:pic>
          <p:nvPicPr>
            <p:cNvPr id="439" name="Google Shape;439;p35"/>
            <p:cNvPicPr preferRelativeResize="0"/>
            <p:nvPr/>
          </p:nvPicPr>
          <p:blipFill rotWithShape="1">
            <a:blip r:embed="rId3">
              <a:alphaModFix/>
            </a:blip>
            <a:srcRect r="12579"/>
            <a:stretch/>
          </p:blipFill>
          <p:spPr>
            <a:xfrm>
              <a:off x="7503849" y="932077"/>
              <a:ext cx="1147427" cy="10875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0" name="Google Shape;440;p35"/>
            <p:cNvGrpSpPr/>
            <p:nvPr/>
          </p:nvGrpSpPr>
          <p:grpSpPr>
            <a:xfrm>
              <a:off x="7098841" y="1420355"/>
              <a:ext cx="110582" cy="110556"/>
              <a:chOff x="6232675" y="1256675"/>
              <a:chExt cx="261300" cy="261300"/>
            </a:xfrm>
          </p:grpSpPr>
          <p:cxnSp>
            <p:nvCxnSpPr>
              <p:cNvPr id="441" name="Google Shape;441;p35"/>
              <p:cNvCxnSpPr/>
              <p:nvPr/>
            </p:nvCxnSpPr>
            <p:spPr>
              <a:xfrm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35"/>
              <p:cNvCxnSpPr/>
              <p:nvPr/>
            </p:nvCxnSpPr>
            <p:spPr>
              <a:xfrm rot="10800000"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443" name="Google Shape;44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700130">
              <a:off x="7322803" y="993602"/>
              <a:ext cx="258743" cy="2046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50" name="Picture 2" descr="Beat Saber on Steam">
            <a:extLst>
              <a:ext uri="{FF2B5EF4-FFF2-40B4-BE49-F238E27FC236}">
                <a16:creationId xmlns:a16="http://schemas.microsoft.com/office/drawing/2014/main" id="{34C731A4-33A9-70C4-E698-2F609BA6D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435" y="1275136"/>
            <a:ext cx="2211675" cy="124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ing Fit Adventure">
            <a:extLst>
              <a:ext uri="{FF2B5EF4-FFF2-40B4-BE49-F238E27FC236}">
                <a16:creationId xmlns:a16="http://schemas.microsoft.com/office/drawing/2014/main" id="{50B6760E-4ACD-E721-EED5-5D12FA96B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110" y="1275136"/>
            <a:ext cx="2211675" cy="124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713224" y="936789"/>
            <a:ext cx="7389766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Our Solution: </a:t>
            </a:r>
            <a:r>
              <a:rPr lang="en" sz="3600" dirty="0"/>
              <a:t>ActiveSaga</a:t>
            </a:r>
            <a:endParaRPr dirty="0"/>
          </a:p>
        </p:txBody>
      </p:sp>
      <p:sp>
        <p:nvSpPr>
          <p:cNvPr id="414" name="Google Shape;414;p34"/>
          <p:cNvSpPr txBox="1">
            <a:spLocks noGrp="1"/>
          </p:cNvSpPr>
          <p:nvPr>
            <p:ph type="subTitle" idx="1"/>
          </p:nvPr>
        </p:nvSpPr>
        <p:spPr>
          <a:xfrm>
            <a:off x="579580" y="1739289"/>
            <a:ext cx="5699300" cy="23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ActiveSaga is a VR-based adventure game that transforms physical activity into core gameplay mechanics.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Real-world movements such as running, squatting, and jumping directly control in-game actions.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By shifting the user’s focus from effort to gameplay, the system reduces the Perceived Rating of Exertion.</a:t>
            </a:r>
            <a:endParaRPr sz="1600" dirty="0"/>
          </a:p>
        </p:txBody>
      </p:sp>
      <p:sp>
        <p:nvSpPr>
          <p:cNvPr id="428" name="Google Shape;428;p34"/>
          <p:cNvSpPr/>
          <p:nvPr/>
        </p:nvSpPr>
        <p:spPr>
          <a:xfrm>
            <a:off x="3343856" y="19389"/>
            <a:ext cx="802500" cy="8025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Placeholder 6" descr="A video game logo with a person holding a sword and two monsters&#10;&#10;Description automatically generated">
            <a:extLst>
              <a:ext uri="{FF2B5EF4-FFF2-40B4-BE49-F238E27FC236}">
                <a16:creationId xmlns:a16="http://schemas.microsoft.com/office/drawing/2014/main" id="{3CEEB3E0-57F3-6FB8-CB02-C98E30A5072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0099" r="10099"/>
          <a:stretch>
            <a:fillRect/>
          </a:stretch>
        </p:blipFill>
        <p:spPr>
          <a:xfrm>
            <a:off x="5939372" y="2377440"/>
            <a:ext cx="3491177" cy="2917732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"/>
          <p:cNvSpPr txBox="1">
            <a:spLocks noGrp="1"/>
          </p:cNvSpPr>
          <p:nvPr>
            <p:ph type="subTitle" idx="4"/>
          </p:nvPr>
        </p:nvSpPr>
        <p:spPr>
          <a:xfrm>
            <a:off x="4732097" y="1535520"/>
            <a:ext cx="25965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u="sng" dirty="0"/>
              <a:t>Core Innovation</a:t>
            </a:r>
            <a:endParaRPr sz="1600" u="sng" dirty="0"/>
          </a:p>
        </p:txBody>
      </p:sp>
      <p:sp>
        <p:nvSpPr>
          <p:cNvPr id="434" name="Google Shape;434;p35"/>
          <p:cNvSpPr txBox="1">
            <a:spLocks noGrp="1"/>
          </p:cNvSpPr>
          <p:nvPr>
            <p:ph type="title"/>
          </p:nvPr>
        </p:nvSpPr>
        <p:spPr>
          <a:xfrm>
            <a:off x="567493" y="60886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Project Objectives &amp; Innovation</a:t>
            </a:r>
            <a:endParaRPr sz="2800" dirty="0"/>
          </a:p>
        </p:txBody>
      </p:sp>
      <p:sp>
        <p:nvSpPr>
          <p:cNvPr id="435" name="Google Shape;435;p35"/>
          <p:cNvSpPr txBox="1">
            <a:spLocks noGrp="1"/>
          </p:cNvSpPr>
          <p:nvPr>
            <p:ph type="subTitle" idx="1"/>
          </p:nvPr>
        </p:nvSpPr>
        <p:spPr>
          <a:xfrm>
            <a:off x="4732097" y="2186575"/>
            <a:ext cx="336129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Lower-body locomotion without external sensors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Movement detection based solely on head-mounted display data</a:t>
            </a:r>
            <a:endParaRPr sz="1100" dirty="0"/>
          </a:p>
        </p:txBody>
      </p:sp>
      <p:sp>
        <p:nvSpPr>
          <p:cNvPr id="436" name="Google Shape;436;p35"/>
          <p:cNvSpPr txBox="1">
            <a:spLocks noGrp="1"/>
          </p:cNvSpPr>
          <p:nvPr>
            <p:ph type="subTitle" idx="2"/>
          </p:nvPr>
        </p:nvSpPr>
        <p:spPr>
          <a:xfrm>
            <a:off x="517153" y="2191435"/>
            <a:ext cx="3902340" cy="188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Encourage consistent daily physical activity through gameplay</a:t>
            </a:r>
            <a:endParaRPr lang="he-IL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1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Promote at least five short exercise sessions per week</a:t>
            </a:r>
            <a:endParaRPr lang="he-IL"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437" name="Google Shape;437;p35"/>
          <p:cNvSpPr txBox="1">
            <a:spLocks noGrp="1"/>
          </p:cNvSpPr>
          <p:nvPr>
            <p:ph type="subTitle" idx="3"/>
          </p:nvPr>
        </p:nvSpPr>
        <p:spPr>
          <a:xfrm>
            <a:off x="517153" y="1535520"/>
            <a:ext cx="25965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u="sng" dirty="0"/>
              <a:t>Activity Goals</a:t>
            </a:r>
            <a:endParaRPr sz="1600" u="sng" dirty="0"/>
          </a:p>
        </p:txBody>
      </p:sp>
      <p:grpSp>
        <p:nvGrpSpPr>
          <p:cNvPr id="438" name="Google Shape;438;p35"/>
          <p:cNvGrpSpPr/>
          <p:nvPr/>
        </p:nvGrpSpPr>
        <p:grpSpPr>
          <a:xfrm>
            <a:off x="7647782" y="187601"/>
            <a:ext cx="1552436" cy="1087548"/>
            <a:chOff x="7098841" y="932077"/>
            <a:chExt cx="1552436" cy="1087548"/>
          </a:xfrm>
        </p:grpSpPr>
        <p:pic>
          <p:nvPicPr>
            <p:cNvPr id="439" name="Google Shape;439;p35"/>
            <p:cNvPicPr preferRelativeResize="0"/>
            <p:nvPr/>
          </p:nvPicPr>
          <p:blipFill rotWithShape="1">
            <a:blip r:embed="rId3">
              <a:alphaModFix/>
            </a:blip>
            <a:srcRect r="12579"/>
            <a:stretch/>
          </p:blipFill>
          <p:spPr>
            <a:xfrm>
              <a:off x="7503849" y="932077"/>
              <a:ext cx="1147427" cy="10875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0" name="Google Shape;440;p35"/>
            <p:cNvGrpSpPr/>
            <p:nvPr/>
          </p:nvGrpSpPr>
          <p:grpSpPr>
            <a:xfrm>
              <a:off x="7098841" y="1420355"/>
              <a:ext cx="110582" cy="110556"/>
              <a:chOff x="6232675" y="1256675"/>
              <a:chExt cx="261300" cy="261300"/>
            </a:xfrm>
          </p:grpSpPr>
          <p:cxnSp>
            <p:nvCxnSpPr>
              <p:cNvPr id="441" name="Google Shape;441;p35"/>
              <p:cNvCxnSpPr/>
              <p:nvPr/>
            </p:nvCxnSpPr>
            <p:spPr>
              <a:xfrm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35"/>
              <p:cNvCxnSpPr/>
              <p:nvPr/>
            </p:nvCxnSpPr>
            <p:spPr>
              <a:xfrm rot="10800000">
                <a:off x="6363325" y="1256675"/>
                <a:ext cx="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443" name="Google Shape;44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700130">
              <a:off x="7322803" y="993602"/>
              <a:ext cx="258743" cy="20464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0388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262" y="1379125"/>
            <a:ext cx="966369" cy="6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2"/>
          <p:cNvSpPr/>
          <p:nvPr/>
        </p:nvSpPr>
        <p:spPr>
          <a:xfrm>
            <a:off x="5252604" y="1110735"/>
            <a:ext cx="1247255" cy="121148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2"/>
          <p:cNvSpPr txBox="1">
            <a:spLocks noGrp="1"/>
          </p:cNvSpPr>
          <p:nvPr>
            <p:ph type="title"/>
          </p:nvPr>
        </p:nvSpPr>
        <p:spPr>
          <a:xfrm>
            <a:off x="720000" y="3846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Technology Stack</a:t>
            </a:r>
            <a:endParaRPr sz="2400" dirty="0"/>
          </a:p>
        </p:txBody>
      </p:sp>
      <p:sp>
        <p:nvSpPr>
          <p:cNvPr id="361" name="Google Shape;361;p32"/>
          <p:cNvSpPr txBox="1">
            <a:spLocks noGrp="1"/>
          </p:cNvSpPr>
          <p:nvPr>
            <p:ph type="title" idx="2"/>
          </p:nvPr>
        </p:nvSpPr>
        <p:spPr>
          <a:xfrm>
            <a:off x="1830370" y="237971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62" name="Google Shape;362;p32"/>
          <p:cNvSpPr txBox="1">
            <a:spLocks noGrp="1"/>
          </p:cNvSpPr>
          <p:nvPr>
            <p:ph type="title" idx="3"/>
          </p:nvPr>
        </p:nvSpPr>
        <p:spPr>
          <a:xfrm>
            <a:off x="1830370" y="437210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363" name="Google Shape;363;p32"/>
          <p:cNvSpPr txBox="1">
            <a:spLocks noGrp="1"/>
          </p:cNvSpPr>
          <p:nvPr>
            <p:ph type="title" idx="4"/>
          </p:nvPr>
        </p:nvSpPr>
        <p:spPr>
          <a:xfrm>
            <a:off x="4634161" y="237971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364" name="Google Shape;364;p32"/>
          <p:cNvSpPr txBox="1">
            <a:spLocks noGrp="1"/>
          </p:cNvSpPr>
          <p:nvPr>
            <p:ph type="title" idx="5"/>
          </p:nvPr>
        </p:nvSpPr>
        <p:spPr>
          <a:xfrm>
            <a:off x="4634161" y="436844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365" name="Google Shape;365;p32"/>
          <p:cNvSpPr txBox="1">
            <a:spLocks noGrp="1"/>
          </p:cNvSpPr>
          <p:nvPr>
            <p:ph type="subTitle" idx="1"/>
          </p:nvPr>
        </p:nvSpPr>
        <p:spPr>
          <a:xfrm>
            <a:off x="2068179" y="2409402"/>
            <a:ext cx="21183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Unity + C#</a:t>
            </a:r>
            <a:endParaRPr sz="1600" dirty="0"/>
          </a:p>
        </p:txBody>
      </p:sp>
      <p:sp>
        <p:nvSpPr>
          <p:cNvPr id="366" name="Google Shape;366;p32"/>
          <p:cNvSpPr txBox="1">
            <a:spLocks noGrp="1"/>
          </p:cNvSpPr>
          <p:nvPr>
            <p:ph type="subTitle" idx="6"/>
          </p:nvPr>
        </p:nvSpPr>
        <p:spPr>
          <a:xfrm>
            <a:off x="5098020" y="2400960"/>
            <a:ext cx="221561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Meta Quest 3S</a:t>
            </a:r>
            <a:endParaRPr sz="1600" dirty="0"/>
          </a:p>
        </p:txBody>
      </p:sp>
      <p:sp>
        <p:nvSpPr>
          <p:cNvPr id="367" name="Google Shape;367;p32"/>
          <p:cNvSpPr txBox="1">
            <a:spLocks noGrp="1"/>
          </p:cNvSpPr>
          <p:nvPr>
            <p:ph type="subTitle" idx="7"/>
          </p:nvPr>
        </p:nvSpPr>
        <p:spPr>
          <a:xfrm>
            <a:off x="2084970" y="4372102"/>
            <a:ext cx="2118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MongoDB</a:t>
            </a:r>
            <a:endParaRPr sz="1600" dirty="0"/>
          </a:p>
        </p:txBody>
      </p:sp>
      <p:sp>
        <p:nvSpPr>
          <p:cNvPr id="368" name="Google Shape;368;p32"/>
          <p:cNvSpPr txBox="1">
            <a:spLocks noGrp="1"/>
          </p:cNvSpPr>
          <p:nvPr>
            <p:ph type="subTitle" idx="8"/>
          </p:nvPr>
        </p:nvSpPr>
        <p:spPr>
          <a:xfrm>
            <a:off x="4928590" y="4372102"/>
            <a:ext cx="2118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GitHub</a:t>
            </a:r>
            <a:endParaRPr sz="1600" dirty="0"/>
          </a:p>
        </p:txBody>
      </p:sp>
      <p:sp>
        <p:nvSpPr>
          <p:cNvPr id="2" name="Google Shape;356;p32">
            <a:extLst>
              <a:ext uri="{FF2B5EF4-FFF2-40B4-BE49-F238E27FC236}">
                <a16:creationId xmlns:a16="http://schemas.microsoft.com/office/drawing/2014/main" id="{7C1AF037-EE55-F737-A31D-6A805620D3F1}"/>
              </a:ext>
            </a:extLst>
          </p:cNvPr>
          <p:cNvSpPr/>
          <p:nvPr/>
        </p:nvSpPr>
        <p:spPr>
          <a:xfrm>
            <a:off x="2503702" y="1080975"/>
            <a:ext cx="1247255" cy="121148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56;p32">
            <a:extLst>
              <a:ext uri="{FF2B5EF4-FFF2-40B4-BE49-F238E27FC236}">
                <a16:creationId xmlns:a16="http://schemas.microsoft.com/office/drawing/2014/main" id="{A20BF4E5-B6C4-C215-1CCA-DD381A107F5D}"/>
              </a:ext>
            </a:extLst>
          </p:cNvPr>
          <p:cNvSpPr/>
          <p:nvPr/>
        </p:nvSpPr>
        <p:spPr>
          <a:xfrm>
            <a:off x="5364113" y="3068707"/>
            <a:ext cx="1247255" cy="121148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56;p32">
            <a:extLst>
              <a:ext uri="{FF2B5EF4-FFF2-40B4-BE49-F238E27FC236}">
                <a16:creationId xmlns:a16="http://schemas.microsoft.com/office/drawing/2014/main" id="{AD19EACD-5380-D81A-1064-3BBCF990B435}"/>
              </a:ext>
            </a:extLst>
          </p:cNvPr>
          <p:cNvSpPr/>
          <p:nvPr/>
        </p:nvSpPr>
        <p:spPr>
          <a:xfrm>
            <a:off x="2503701" y="3067922"/>
            <a:ext cx="1247255" cy="121148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22" name="Picture 2" descr="Mongodb original wordmark logo - Free Icon PNG, SVG">
            <a:extLst>
              <a:ext uri="{FF2B5EF4-FFF2-40B4-BE49-F238E27FC236}">
                <a16:creationId xmlns:a16="http://schemas.microsoft.com/office/drawing/2014/main" id="{F7CD4DA5-AB15-E578-B6EF-EA2A5098F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28" y="3223199"/>
            <a:ext cx="900925" cy="90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Github Logo - Free social media icons">
            <a:extLst>
              <a:ext uri="{FF2B5EF4-FFF2-40B4-BE49-F238E27FC236}">
                <a16:creationId xmlns:a16="http://schemas.microsoft.com/office/drawing/2014/main" id="{5E988999-C37F-D528-7634-2C297531A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324" y="3172393"/>
            <a:ext cx="1002535" cy="100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Unity logo and symbol, meaning, history, PNG">
            <a:extLst>
              <a:ext uri="{FF2B5EF4-FFF2-40B4-BE49-F238E27FC236}">
                <a16:creationId xmlns:a16="http://schemas.microsoft.com/office/drawing/2014/main" id="{5339377B-062A-4637-2EC9-E66D8196A1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73"/>
          <a:stretch/>
        </p:blipFill>
        <p:spPr bwMode="auto">
          <a:xfrm>
            <a:off x="2667128" y="1019376"/>
            <a:ext cx="975232" cy="136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401250" y="516150"/>
            <a:ext cx="8022813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Architecture </a:t>
            </a:r>
            <a:endParaRPr sz="2800" dirty="0"/>
          </a:p>
        </p:txBody>
      </p:sp>
      <p:sp>
        <p:nvSpPr>
          <p:cNvPr id="428" name="Google Shape;428;p34"/>
          <p:cNvSpPr/>
          <p:nvPr/>
        </p:nvSpPr>
        <p:spPr>
          <a:xfrm>
            <a:off x="0" y="0"/>
            <a:ext cx="802500" cy="8025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64;p36">
            <a:extLst>
              <a:ext uri="{FF2B5EF4-FFF2-40B4-BE49-F238E27FC236}">
                <a16:creationId xmlns:a16="http://schemas.microsoft.com/office/drawing/2014/main" id="{34825DB0-8C82-B498-3000-DA7E47B99F5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02500" y="4336968"/>
            <a:ext cx="802281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The system combines local real-time processing with cloud-based data synchronization to ensure performance and scalability.</a:t>
            </a:r>
            <a:endParaRPr sz="1100" dirty="0"/>
          </a:p>
        </p:txBody>
      </p:sp>
      <p:pic>
        <p:nvPicPr>
          <p:cNvPr id="12" name="Picture 11" descr="A diagram of a software&#10;&#10;Description automatically generated">
            <a:extLst>
              <a:ext uri="{FF2B5EF4-FFF2-40B4-BE49-F238E27FC236}">
                <a16:creationId xmlns:a16="http://schemas.microsoft.com/office/drawing/2014/main" id="{B238D024-5FF6-949C-F010-CB24D6C6D6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" t="10034" b="13778"/>
          <a:stretch/>
        </p:blipFill>
        <p:spPr>
          <a:xfrm>
            <a:off x="1564604" y="1265298"/>
            <a:ext cx="5696103" cy="289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26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401250" y="164458"/>
            <a:ext cx="8022813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Use State</a:t>
            </a:r>
            <a:endParaRPr sz="2800" dirty="0"/>
          </a:p>
        </p:txBody>
      </p:sp>
      <p:sp>
        <p:nvSpPr>
          <p:cNvPr id="428" name="Google Shape;428;p34"/>
          <p:cNvSpPr/>
          <p:nvPr/>
        </p:nvSpPr>
        <p:spPr>
          <a:xfrm>
            <a:off x="0" y="0"/>
            <a:ext cx="802500" cy="8025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47A82-57BF-20E1-C01C-EDE888A277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41" r="507" b="1135"/>
          <a:stretch/>
        </p:blipFill>
        <p:spPr>
          <a:xfrm>
            <a:off x="1807962" y="737158"/>
            <a:ext cx="5314496" cy="432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52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401250" y="229800"/>
            <a:ext cx="8022813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Activity Diagram</a:t>
            </a:r>
            <a:endParaRPr sz="2800" dirty="0"/>
          </a:p>
        </p:txBody>
      </p:sp>
      <p:sp>
        <p:nvSpPr>
          <p:cNvPr id="428" name="Google Shape;428;p34"/>
          <p:cNvSpPr/>
          <p:nvPr/>
        </p:nvSpPr>
        <p:spPr>
          <a:xfrm>
            <a:off x="0" y="0"/>
            <a:ext cx="802500" cy="8025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08D39-807D-C7F0-660E-FEE203135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87" y="802500"/>
            <a:ext cx="5354458" cy="426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52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-60960" y="88734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Core Algorithm: Movement Analysis</a:t>
            </a:r>
            <a:endParaRPr sz="2800" dirty="0"/>
          </a:p>
        </p:txBody>
      </p:sp>
      <p:sp>
        <p:nvSpPr>
          <p:cNvPr id="428" name="Google Shape;428;p34"/>
          <p:cNvSpPr/>
          <p:nvPr/>
        </p:nvSpPr>
        <p:spPr>
          <a:xfrm>
            <a:off x="3343856" y="19389"/>
            <a:ext cx="802500" cy="8025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4F903-7208-07F8-DD2C-D530F195B78E}"/>
              </a:ext>
            </a:extLst>
          </p:cNvPr>
          <p:cNvSpPr txBox="1"/>
          <p:nvPr/>
        </p:nvSpPr>
        <p:spPr>
          <a:xfrm>
            <a:off x="1021666" y="2094327"/>
            <a:ext cx="829056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Epilogue" panose="020B0604020202020204" charset="0"/>
              </a:rPr>
              <a:t>Real-time detection of running, squatting, and jumping.</a:t>
            </a:r>
            <a:br>
              <a:rPr lang="en-GB" sz="1800" dirty="0">
                <a:solidFill>
                  <a:schemeClr val="tx1"/>
                </a:solidFill>
                <a:latin typeface="Epilogue" panose="020B0604020202020204" charset="0"/>
              </a:rPr>
            </a:br>
            <a:endParaRPr lang="en-GB" sz="1800" dirty="0">
              <a:solidFill>
                <a:schemeClr val="tx1"/>
              </a:solidFill>
              <a:latin typeface="Epilogue" panose="020B0604020202020204" charset="0"/>
            </a:endParaRP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Epilogue" panose="020B0604020202020204" charset="0"/>
              </a:rPr>
              <a:t>Uses vertical position and velocity patterns.</a:t>
            </a:r>
            <a:br>
              <a:rPr lang="en-GB" sz="1800" dirty="0">
                <a:solidFill>
                  <a:schemeClr val="tx1"/>
                </a:solidFill>
                <a:latin typeface="Epilogue" panose="020B0604020202020204" charset="0"/>
              </a:rPr>
            </a:br>
            <a:endParaRPr lang="en-GB" sz="1800" dirty="0">
              <a:solidFill>
                <a:schemeClr val="tx1"/>
              </a:solidFill>
              <a:latin typeface="Epilogue" panose="020B0604020202020204" charset="0"/>
            </a:endParaRP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Epilogue" panose="020B0604020202020204" charset="0"/>
              </a:rPr>
              <a:t>Head-mounted display data only (no external sensors).</a:t>
            </a:r>
          </a:p>
        </p:txBody>
      </p:sp>
    </p:spTree>
    <p:extLst>
      <p:ext uri="{BB962C8B-B14F-4D97-AF65-F5344CB8AC3E}">
        <p14:creationId xmlns:p14="http://schemas.microsoft.com/office/powerpoint/2010/main" val="2957259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7"/>
          <p:cNvSpPr txBox="1">
            <a:spLocks noGrp="1"/>
          </p:cNvSpPr>
          <p:nvPr>
            <p:ph type="subTitle" idx="6"/>
          </p:nvPr>
        </p:nvSpPr>
        <p:spPr>
          <a:xfrm>
            <a:off x="1698750" y="3126340"/>
            <a:ext cx="2747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Daily / Weekly</a:t>
            </a:r>
            <a:br>
              <a:rPr lang="en-GB" sz="1600" dirty="0"/>
            </a:br>
            <a:r>
              <a:rPr lang="en-GB" sz="1600" dirty="0"/>
              <a:t>Rewards</a:t>
            </a:r>
            <a:endParaRPr sz="1600" dirty="0"/>
          </a:p>
        </p:txBody>
      </p:sp>
      <p:sp>
        <p:nvSpPr>
          <p:cNvPr id="493" name="Google Shape;493;p37"/>
          <p:cNvSpPr txBox="1">
            <a:spLocks noGrp="1"/>
          </p:cNvSpPr>
          <p:nvPr>
            <p:ph type="title"/>
          </p:nvPr>
        </p:nvSpPr>
        <p:spPr>
          <a:xfrm>
            <a:off x="129540" y="483369"/>
            <a:ext cx="88849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Gamification &amp; Progression System</a:t>
            </a:r>
            <a:endParaRPr sz="2800" dirty="0"/>
          </a:p>
        </p:txBody>
      </p:sp>
      <p:sp>
        <p:nvSpPr>
          <p:cNvPr id="494" name="Google Shape;494;p37"/>
          <p:cNvSpPr txBox="1">
            <a:spLocks noGrp="1"/>
          </p:cNvSpPr>
          <p:nvPr>
            <p:ph type="subTitle" idx="1"/>
          </p:nvPr>
        </p:nvSpPr>
        <p:spPr>
          <a:xfrm>
            <a:off x="1641645" y="1731577"/>
            <a:ext cx="27471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Rewards players for physical activity and progression.</a:t>
            </a:r>
            <a:endParaRPr sz="1400" dirty="0"/>
          </a:p>
        </p:txBody>
      </p:sp>
      <p:sp>
        <p:nvSpPr>
          <p:cNvPr id="495" name="Google Shape;495;p37"/>
          <p:cNvSpPr txBox="1">
            <a:spLocks noGrp="1"/>
          </p:cNvSpPr>
          <p:nvPr>
            <p:ph type="subTitle" idx="2"/>
          </p:nvPr>
        </p:nvSpPr>
        <p:spPr>
          <a:xfrm>
            <a:off x="5321158" y="1779965"/>
            <a:ext cx="2747100" cy="7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Enables purchasing upgrades and in-game items</a:t>
            </a:r>
            <a:endParaRPr sz="1400" dirty="0"/>
          </a:p>
        </p:txBody>
      </p:sp>
      <p:sp>
        <p:nvSpPr>
          <p:cNvPr id="496" name="Google Shape;496;p37"/>
          <p:cNvSpPr txBox="1">
            <a:spLocks noGrp="1"/>
          </p:cNvSpPr>
          <p:nvPr>
            <p:ph type="subTitle" idx="3"/>
          </p:nvPr>
        </p:nvSpPr>
        <p:spPr>
          <a:xfrm>
            <a:off x="1698750" y="3640440"/>
            <a:ext cx="27471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Encourages consistent engagement through timed challenges.</a:t>
            </a:r>
            <a:endParaRPr sz="1400" dirty="0"/>
          </a:p>
        </p:txBody>
      </p:sp>
      <p:sp>
        <p:nvSpPr>
          <p:cNvPr id="497" name="Google Shape;497;p37"/>
          <p:cNvSpPr txBox="1">
            <a:spLocks noGrp="1"/>
          </p:cNvSpPr>
          <p:nvPr>
            <p:ph type="subTitle" idx="4"/>
          </p:nvPr>
        </p:nvSpPr>
        <p:spPr>
          <a:xfrm>
            <a:off x="5321158" y="3563273"/>
            <a:ext cx="27471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Supports long-term exercise routine formation.</a:t>
            </a:r>
            <a:endParaRPr sz="1400" dirty="0"/>
          </a:p>
        </p:txBody>
      </p:sp>
      <p:sp>
        <p:nvSpPr>
          <p:cNvPr id="498" name="Google Shape;498;p37"/>
          <p:cNvSpPr txBox="1">
            <a:spLocks noGrp="1"/>
          </p:cNvSpPr>
          <p:nvPr>
            <p:ph type="subTitle" idx="5"/>
          </p:nvPr>
        </p:nvSpPr>
        <p:spPr>
          <a:xfrm>
            <a:off x="1679563" y="1194137"/>
            <a:ext cx="2747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XP</a:t>
            </a:r>
            <a:endParaRPr sz="1600" dirty="0"/>
          </a:p>
        </p:txBody>
      </p:sp>
      <p:sp>
        <p:nvSpPr>
          <p:cNvPr id="499" name="Google Shape;499;p37"/>
          <p:cNvSpPr txBox="1">
            <a:spLocks noGrp="1"/>
          </p:cNvSpPr>
          <p:nvPr>
            <p:ph type="subTitle" idx="7"/>
          </p:nvPr>
        </p:nvSpPr>
        <p:spPr>
          <a:xfrm>
            <a:off x="5294300" y="1179483"/>
            <a:ext cx="2747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Currency</a:t>
            </a:r>
            <a:endParaRPr sz="1600" dirty="0"/>
          </a:p>
        </p:txBody>
      </p:sp>
      <p:sp>
        <p:nvSpPr>
          <p:cNvPr id="500" name="Google Shape;500;p37"/>
          <p:cNvSpPr txBox="1">
            <a:spLocks noGrp="1"/>
          </p:cNvSpPr>
          <p:nvPr>
            <p:ph type="subTitle" idx="8"/>
          </p:nvPr>
        </p:nvSpPr>
        <p:spPr>
          <a:xfrm>
            <a:off x="5294300" y="2969588"/>
            <a:ext cx="2747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Habit formation</a:t>
            </a:r>
            <a:endParaRPr sz="1600" dirty="0"/>
          </a:p>
        </p:txBody>
      </p:sp>
      <p:sp>
        <p:nvSpPr>
          <p:cNvPr id="501" name="Google Shape;501;p37"/>
          <p:cNvSpPr/>
          <p:nvPr/>
        </p:nvSpPr>
        <p:spPr>
          <a:xfrm>
            <a:off x="916654" y="1332490"/>
            <a:ext cx="705900" cy="7059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37"/>
          <p:cNvSpPr/>
          <p:nvPr/>
        </p:nvSpPr>
        <p:spPr>
          <a:xfrm>
            <a:off x="4445754" y="1332490"/>
            <a:ext cx="705900" cy="7059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7"/>
          <p:cNvSpPr/>
          <p:nvPr/>
        </p:nvSpPr>
        <p:spPr>
          <a:xfrm>
            <a:off x="916654" y="2993140"/>
            <a:ext cx="705900" cy="7059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37"/>
          <p:cNvSpPr/>
          <p:nvPr/>
        </p:nvSpPr>
        <p:spPr>
          <a:xfrm>
            <a:off x="4445754" y="2993140"/>
            <a:ext cx="705900" cy="7059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70" name="Picture 2" descr="Xp - Free gaming icons">
            <a:extLst>
              <a:ext uri="{FF2B5EF4-FFF2-40B4-BE49-F238E27FC236}">
                <a16:creationId xmlns:a16="http://schemas.microsoft.com/office/drawing/2014/main" id="{A989480D-69E6-C9FC-571E-1D05A4941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741" y="1345247"/>
            <a:ext cx="679357" cy="679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d Money PNG Transparent Background, Free Download #40456 - FreeIconsPNG">
            <a:extLst>
              <a:ext uri="{FF2B5EF4-FFF2-40B4-BE49-F238E27FC236}">
                <a16:creationId xmlns:a16="http://schemas.microsoft.com/office/drawing/2014/main" id="{DFEA63C4-51BF-60F8-9709-B340E689C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625" y="1227140"/>
            <a:ext cx="801701" cy="76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Reward, cup, first place, winner clipart free download">
            <a:extLst>
              <a:ext uri="{FF2B5EF4-FFF2-40B4-BE49-F238E27FC236}">
                <a16:creationId xmlns:a16="http://schemas.microsoft.com/office/drawing/2014/main" id="{BB887CA8-268B-3A4E-FB17-338E2785B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36" y="2902988"/>
            <a:ext cx="633785" cy="70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Habit - Free arrows icons">
            <a:extLst>
              <a:ext uri="{FF2B5EF4-FFF2-40B4-BE49-F238E27FC236}">
                <a16:creationId xmlns:a16="http://schemas.microsoft.com/office/drawing/2014/main" id="{BF2DE861-F4CB-AF17-2E35-B05002B8E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625" y="2993140"/>
            <a:ext cx="705900" cy="70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-99060" y="62064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Success Metrics &amp; Evaluation Plan</a:t>
            </a:r>
            <a:endParaRPr sz="3600" dirty="0"/>
          </a:p>
        </p:txBody>
      </p:sp>
      <p:sp>
        <p:nvSpPr>
          <p:cNvPr id="11" name="Google Shape;539;p38">
            <a:extLst>
              <a:ext uri="{FF2B5EF4-FFF2-40B4-BE49-F238E27FC236}">
                <a16:creationId xmlns:a16="http://schemas.microsoft.com/office/drawing/2014/main" id="{3313500D-5028-BD57-4FFC-C7F274C2711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58585" y="1901112"/>
            <a:ext cx="2557532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Precision of movement detection.</a:t>
            </a: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12" name="Google Shape;541;p38">
            <a:extLst>
              <a:ext uri="{FF2B5EF4-FFF2-40B4-BE49-F238E27FC236}">
                <a16:creationId xmlns:a16="http://schemas.microsoft.com/office/drawing/2014/main" id="{DD744393-8043-D4EE-D32A-E03C8E83C408}"/>
              </a:ext>
            </a:extLst>
          </p:cNvPr>
          <p:cNvSpPr txBox="1">
            <a:spLocks/>
          </p:cNvSpPr>
          <p:nvPr/>
        </p:nvSpPr>
        <p:spPr>
          <a:xfrm>
            <a:off x="1359148" y="3415001"/>
            <a:ext cx="2466092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00" dirty="0">
                <a:solidFill>
                  <a:schemeClr val="tx1"/>
                </a:solidFill>
                <a:latin typeface="Epilogue" panose="020B0604020202020204" charset="0"/>
              </a:rPr>
              <a:t>Continued user engagement over time.</a:t>
            </a:r>
            <a:endParaRPr lang="en-GB" sz="1600" dirty="0">
              <a:solidFill>
                <a:schemeClr val="tx1"/>
              </a:solidFill>
              <a:latin typeface="Epilogue" panose="020B0604020202020204" charset="0"/>
              <a:sym typeface="Epilogue"/>
            </a:endParaRPr>
          </a:p>
        </p:txBody>
      </p:sp>
      <p:sp>
        <p:nvSpPr>
          <p:cNvPr id="13" name="Google Shape;543;p38">
            <a:extLst>
              <a:ext uri="{FF2B5EF4-FFF2-40B4-BE49-F238E27FC236}">
                <a16:creationId xmlns:a16="http://schemas.microsoft.com/office/drawing/2014/main" id="{8AC3FC36-1521-2D17-786A-9CBE59E91D2F}"/>
              </a:ext>
            </a:extLst>
          </p:cNvPr>
          <p:cNvSpPr txBox="1">
            <a:spLocks/>
          </p:cNvSpPr>
          <p:nvPr/>
        </p:nvSpPr>
        <p:spPr>
          <a:xfrm>
            <a:off x="1389655" y="1593592"/>
            <a:ext cx="2111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00" b="1" dirty="0">
                <a:solidFill>
                  <a:schemeClr val="tx1"/>
                </a:solidFill>
              </a:rPr>
              <a:t>Accuracy</a:t>
            </a:r>
          </a:p>
        </p:txBody>
      </p:sp>
      <p:sp>
        <p:nvSpPr>
          <p:cNvPr id="14" name="Google Shape;548;p38">
            <a:extLst>
              <a:ext uri="{FF2B5EF4-FFF2-40B4-BE49-F238E27FC236}">
                <a16:creationId xmlns:a16="http://schemas.microsoft.com/office/drawing/2014/main" id="{971B2576-E0A3-CB05-4944-9D24A69D022A}"/>
              </a:ext>
            </a:extLst>
          </p:cNvPr>
          <p:cNvSpPr txBox="1">
            <a:spLocks/>
          </p:cNvSpPr>
          <p:nvPr/>
        </p:nvSpPr>
        <p:spPr>
          <a:xfrm>
            <a:off x="1363317" y="3067678"/>
            <a:ext cx="2111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00" b="1" dirty="0">
                <a:solidFill>
                  <a:schemeClr val="tx1"/>
                </a:solidFill>
              </a:rPr>
              <a:t>User Retention</a:t>
            </a:r>
          </a:p>
        </p:txBody>
      </p:sp>
      <p:sp>
        <p:nvSpPr>
          <p:cNvPr id="15" name="Google Shape;556;p38">
            <a:extLst>
              <a:ext uri="{FF2B5EF4-FFF2-40B4-BE49-F238E27FC236}">
                <a16:creationId xmlns:a16="http://schemas.microsoft.com/office/drawing/2014/main" id="{F31B3485-3FFB-1DFE-DF74-F211D255D3BC}"/>
              </a:ext>
            </a:extLst>
          </p:cNvPr>
          <p:cNvSpPr/>
          <p:nvPr/>
        </p:nvSpPr>
        <p:spPr>
          <a:xfrm>
            <a:off x="1159917" y="1679200"/>
            <a:ext cx="203400" cy="2034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" name="Google Shape;559;p38">
            <a:extLst>
              <a:ext uri="{FF2B5EF4-FFF2-40B4-BE49-F238E27FC236}">
                <a16:creationId xmlns:a16="http://schemas.microsoft.com/office/drawing/2014/main" id="{C5DDDF28-5000-071D-4FB4-47BDC515911B}"/>
              </a:ext>
            </a:extLst>
          </p:cNvPr>
          <p:cNvSpPr/>
          <p:nvPr/>
        </p:nvSpPr>
        <p:spPr>
          <a:xfrm>
            <a:off x="1155185" y="3154528"/>
            <a:ext cx="203400" cy="2034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9" name="Google Shape;539;p38">
            <a:extLst>
              <a:ext uri="{FF2B5EF4-FFF2-40B4-BE49-F238E27FC236}">
                <a16:creationId xmlns:a16="http://schemas.microsoft.com/office/drawing/2014/main" id="{FF8E16EE-19BF-E1E6-389E-6340927E3227}"/>
              </a:ext>
            </a:extLst>
          </p:cNvPr>
          <p:cNvSpPr txBox="1">
            <a:spLocks/>
          </p:cNvSpPr>
          <p:nvPr/>
        </p:nvSpPr>
        <p:spPr>
          <a:xfrm>
            <a:off x="4998305" y="1905405"/>
            <a:ext cx="2610872" cy="1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pPr marL="152400" indent="0">
              <a:buNone/>
            </a:pPr>
            <a:r>
              <a:rPr lang="en-GB" sz="1600" dirty="0"/>
              <a:t>Stable and smooth frame rate.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0" name="Google Shape;541;p38">
            <a:extLst>
              <a:ext uri="{FF2B5EF4-FFF2-40B4-BE49-F238E27FC236}">
                <a16:creationId xmlns:a16="http://schemas.microsoft.com/office/drawing/2014/main" id="{AC77A59D-DA4E-FE48-C56C-A5930A781223}"/>
              </a:ext>
            </a:extLst>
          </p:cNvPr>
          <p:cNvSpPr txBox="1">
            <a:spLocks/>
          </p:cNvSpPr>
          <p:nvPr/>
        </p:nvSpPr>
        <p:spPr>
          <a:xfrm>
            <a:off x="5100568" y="3415001"/>
            <a:ext cx="2778512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00" dirty="0">
                <a:solidFill>
                  <a:schemeClr val="tx1"/>
                </a:solidFill>
                <a:latin typeface="Epilogue" panose="020B0604020202020204" charset="0"/>
              </a:rPr>
              <a:t>User comfort and ease of use.</a:t>
            </a:r>
          </a:p>
        </p:txBody>
      </p:sp>
      <p:sp>
        <p:nvSpPr>
          <p:cNvPr id="21" name="Google Shape;543;p38">
            <a:extLst>
              <a:ext uri="{FF2B5EF4-FFF2-40B4-BE49-F238E27FC236}">
                <a16:creationId xmlns:a16="http://schemas.microsoft.com/office/drawing/2014/main" id="{338AC253-EA93-5B4A-08A0-D6271DF9EFA5}"/>
              </a:ext>
            </a:extLst>
          </p:cNvPr>
          <p:cNvSpPr txBox="1">
            <a:spLocks/>
          </p:cNvSpPr>
          <p:nvPr/>
        </p:nvSpPr>
        <p:spPr>
          <a:xfrm>
            <a:off x="5104737" y="1595481"/>
            <a:ext cx="2111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00" b="1" dirty="0">
                <a:solidFill>
                  <a:schemeClr val="tx1"/>
                </a:solidFill>
              </a:rPr>
              <a:t>Performance</a:t>
            </a:r>
          </a:p>
        </p:txBody>
      </p:sp>
      <p:sp>
        <p:nvSpPr>
          <p:cNvPr id="22" name="Google Shape;548;p38">
            <a:extLst>
              <a:ext uri="{FF2B5EF4-FFF2-40B4-BE49-F238E27FC236}">
                <a16:creationId xmlns:a16="http://schemas.microsoft.com/office/drawing/2014/main" id="{AE0D6032-112C-EAF4-6B95-6B10DA6C68E9}"/>
              </a:ext>
            </a:extLst>
          </p:cNvPr>
          <p:cNvSpPr txBox="1">
            <a:spLocks/>
          </p:cNvSpPr>
          <p:nvPr/>
        </p:nvSpPr>
        <p:spPr>
          <a:xfrm>
            <a:off x="5104737" y="3067678"/>
            <a:ext cx="2111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00" b="1" dirty="0">
                <a:solidFill>
                  <a:schemeClr val="tx1"/>
                </a:solidFill>
              </a:rPr>
              <a:t>Usability</a:t>
            </a:r>
          </a:p>
        </p:txBody>
      </p:sp>
      <p:sp>
        <p:nvSpPr>
          <p:cNvPr id="23" name="Google Shape;556;p38">
            <a:extLst>
              <a:ext uri="{FF2B5EF4-FFF2-40B4-BE49-F238E27FC236}">
                <a16:creationId xmlns:a16="http://schemas.microsoft.com/office/drawing/2014/main" id="{318AEED9-E11E-38CC-BFE0-891BEF0FC2A7}"/>
              </a:ext>
            </a:extLst>
          </p:cNvPr>
          <p:cNvSpPr/>
          <p:nvPr/>
        </p:nvSpPr>
        <p:spPr>
          <a:xfrm>
            <a:off x="4896605" y="1673469"/>
            <a:ext cx="203400" cy="2034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5" name="Google Shape;559;p38">
            <a:extLst>
              <a:ext uri="{FF2B5EF4-FFF2-40B4-BE49-F238E27FC236}">
                <a16:creationId xmlns:a16="http://schemas.microsoft.com/office/drawing/2014/main" id="{BCE1ED9E-5348-4460-B2F1-37C89D37AA2C}"/>
              </a:ext>
            </a:extLst>
          </p:cNvPr>
          <p:cNvSpPr/>
          <p:nvPr/>
        </p:nvSpPr>
        <p:spPr>
          <a:xfrm>
            <a:off x="4896605" y="3154528"/>
            <a:ext cx="203400" cy="2034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84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-99060" y="62064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Testing &amp; Safety</a:t>
            </a:r>
            <a:endParaRPr sz="4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6A49BFE-2DD8-1A84-9784-A915D8689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143105"/>
              </p:ext>
            </p:extLst>
          </p:nvPr>
        </p:nvGraphicFramePr>
        <p:xfrm>
          <a:off x="906780" y="1697990"/>
          <a:ext cx="7612380" cy="2295573"/>
        </p:xfrm>
        <a:graphic>
          <a:graphicData uri="http://schemas.openxmlformats.org/drawingml/2006/table">
            <a:tbl>
              <a:tblPr firstRow="1" bandRow="1">
                <a:tableStyleId>{39C65FD9-BB43-47C7-8352-4DC349932AB9}</a:tableStyleId>
              </a:tblPr>
              <a:tblGrid>
                <a:gridCol w="1958340">
                  <a:extLst>
                    <a:ext uri="{9D8B030D-6E8A-4147-A177-3AD203B41FA5}">
                      <a16:colId xmlns:a16="http://schemas.microsoft.com/office/drawing/2014/main" val="407403056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21182933"/>
                    </a:ext>
                  </a:extLst>
                </a:gridCol>
                <a:gridCol w="2910840">
                  <a:extLst>
                    <a:ext uri="{9D8B030D-6E8A-4147-A177-3AD203B41FA5}">
                      <a16:colId xmlns:a16="http://schemas.microsoft.com/office/drawing/2014/main" val="980987976"/>
                    </a:ext>
                  </a:extLst>
                </a:gridCol>
              </a:tblGrid>
              <a:tr h="558213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Epilogue" panose="020B0604020202020204" charset="0"/>
                        </a:rP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Epilogue" panose="020B0604020202020204" charset="0"/>
                        </a:rPr>
                        <a:t>Test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Epilogue" panose="020B0604020202020204" charset="0"/>
                        </a:rPr>
                        <a:t>Expected 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090857"/>
                  </a:ext>
                </a:extLst>
              </a:tr>
              <a:tr h="566192"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Epilogue" panose="020B0604020202020204" charset="0"/>
                        </a:rPr>
                        <a:t>System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Epilogue" panose="020B0604020202020204" charset="0"/>
                        </a:rPr>
                        <a:t>Core gameplay &amp; movement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Epilogue" panose="020B0604020202020204" charset="0"/>
                        </a:rPr>
                        <a:t>Stable and correct system behaviour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591737"/>
                  </a:ext>
                </a:extLst>
              </a:tr>
              <a:tr h="566192"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Epilogue" panose="020B0604020202020204" charset="0"/>
                        </a:rPr>
                        <a:t>Cybersickness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Epilogue" panose="020B0604020202020204" charset="0"/>
                        </a:rPr>
                        <a:t>Frame rate &amp; motion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Epilogue" panose="020B0604020202020204" charset="0"/>
                        </a:rPr>
                        <a:t>Reduced discomfort and nausea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645046"/>
                  </a:ext>
                </a:extLst>
              </a:tr>
              <a:tr h="566192"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Epilogue" panose="020B0604020202020204" charset="0"/>
                        </a:rPr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Epilogue" panose="020B0604020202020204" charset="0"/>
                        </a:rPr>
                        <a:t>Guardian boundary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Epilogue" panose="020B0604020202020204" charset="0"/>
                        </a:rPr>
                        <a:t>User remains within safe play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81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635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-99060" y="62064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POC Video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1586347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-99060" y="62064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POC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4247459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-99060" y="62064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Challenges &amp; Future Work</a:t>
            </a:r>
            <a:endParaRPr sz="5400" dirty="0"/>
          </a:p>
        </p:txBody>
      </p:sp>
      <p:sp>
        <p:nvSpPr>
          <p:cNvPr id="2" name="Google Shape;539;p38">
            <a:extLst>
              <a:ext uri="{FF2B5EF4-FFF2-40B4-BE49-F238E27FC236}">
                <a16:creationId xmlns:a16="http://schemas.microsoft.com/office/drawing/2014/main" id="{08B1416D-84D6-1EA6-08D5-3ECA9CCCA1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21534" y="1619436"/>
            <a:ext cx="7251452" cy="29948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GB" sz="1800" b="1" dirty="0"/>
              <a:t>Optimization</a:t>
            </a:r>
            <a:r>
              <a:rPr lang="en-GB" sz="1800" dirty="0"/>
              <a:t> – Improving performance and stability on standalone VR hardware.</a:t>
            </a:r>
            <a:endParaRPr lang="he-IL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/>
              <a:t>Accuracy</a:t>
            </a:r>
            <a:r>
              <a:rPr lang="en-GB" sz="1800" dirty="0"/>
              <a:t> – Enhancing movement detection and reducing false positives.</a:t>
            </a:r>
            <a:endParaRPr lang="he-IL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/>
              <a:t>Content</a:t>
            </a:r>
            <a:r>
              <a:rPr lang="en-GB" sz="1800" dirty="0"/>
              <a:t> – Expanding levels, challenges, and gameplay variety</a:t>
            </a:r>
            <a:r>
              <a:rPr lang="en-GB" sz="1800" dirty="0">
                <a:solidFill>
                  <a:schemeClr val="tx1"/>
                </a:solidFill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126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-99060" y="62064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Summary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235848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5121" t="9428" r="15702"/>
          <a:stretch/>
        </p:blipFill>
        <p:spPr>
          <a:xfrm>
            <a:off x="4572001" y="2987040"/>
            <a:ext cx="3002280" cy="215646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3"/>
          <p:cNvSpPr/>
          <p:nvPr/>
        </p:nvSpPr>
        <p:spPr>
          <a:xfrm>
            <a:off x="663900" y="240724"/>
            <a:ext cx="2239320" cy="2141351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85738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3"/>
          <p:cNvSpPr txBox="1">
            <a:spLocks noGrp="1"/>
          </p:cNvSpPr>
          <p:nvPr>
            <p:ph type="title"/>
          </p:nvPr>
        </p:nvSpPr>
        <p:spPr>
          <a:xfrm>
            <a:off x="1150110" y="800199"/>
            <a:ext cx="60798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Thank You!</a:t>
            </a:r>
            <a:endParaRPr sz="4000" dirty="0"/>
          </a:p>
        </p:txBody>
      </p:sp>
      <p:sp>
        <p:nvSpPr>
          <p:cNvPr id="6" name="Google Shape;539;p38">
            <a:extLst>
              <a:ext uri="{FF2B5EF4-FFF2-40B4-BE49-F238E27FC236}">
                <a16:creationId xmlns:a16="http://schemas.microsoft.com/office/drawing/2014/main" id="{968C9B0B-D59F-E430-42C4-BB2C35859FFF}"/>
              </a:ext>
            </a:extLst>
          </p:cNvPr>
          <p:cNvSpPr txBox="1">
            <a:spLocks/>
          </p:cNvSpPr>
          <p:nvPr/>
        </p:nvSpPr>
        <p:spPr>
          <a:xfrm>
            <a:off x="2848410" y="1558476"/>
            <a:ext cx="5519955" cy="5979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dirty="0">
                <a:solidFill>
                  <a:schemeClr val="tx1"/>
                </a:solidFill>
              </a:rPr>
              <a:t>Daniel Chernov &amp; Alexandra Belkind</a:t>
            </a:r>
            <a:endParaRPr lang="en-GB" sz="1800" dirty="0">
              <a:solidFill>
                <a:schemeClr val="tx1"/>
              </a:solidFill>
            </a:endParaRPr>
          </a:p>
        </p:txBody>
      </p:sp>
      <p:pic>
        <p:nvPicPr>
          <p:cNvPr id="8" name="Picture 7" descr="A video game logo with a person holding a sword and two monsters&#10;&#10;Description automatically generated">
            <a:extLst>
              <a:ext uri="{FF2B5EF4-FFF2-40B4-BE49-F238E27FC236}">
                <a16:creationId xmlns:a16="http://schemas.microsoft.com/office/drawing/2014/main" id="{FC3469B3-F6FA-D998-1539-2B4CD14FD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110" y="2761426"/>
            <a:ext cx="3682365" cy="24549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rtual Reality Game Pitch Deck by Slidesgo">
  <a:themeElements>
    <a:clrScheme name="Simple Light">
      <a:dk1>
        <a:srgbClr val="FDFBFB"/>
      </a:dk1>
      <a:lt1>
        <a:srgbClr val="302673"/>
      </a:lt1>
      <a:dk2>
        <a:srgbClr val="00FFFF"/>
      </a:dk2>
      <a:lt2>
        <a:srgbClr val="F1E017"/>
      </a:lt2>
      <a:accent1>
        <a:srgbClr val="F638A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DFB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457</Words>
  <Application>Microsoft Office PowerPoint</Application>
  <PresentationFormat>On-screen Show (16:9)</PresentationFormat>
  <Paragraphs>89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Bebas Neue</vt:lpstr>
      <vt:lpstr>Epilogue</vt:lpstr>
      <vt:lpstr>Nunito Light</vt:lpstr>
      <vt:lpstr>Krona One</vt:lpstr>
      <vt:lpstr>Anaheim</vt:lpstr>
      <vt:lpstr>Arial</vt:lpstr>
      <vt:lpstr>Virtual Reality Game Pitch Deck by Slidesgo</vt:lpstr>
      <vt:lpstr>VR Sport Game ActiveSaga</vt:lpstr>
      <vt:lpstr>Motivation &amp; Problem</vt:lpstr>
      <vt:lpstr>Motivation &amp; Problem</vt:lpstr>
      <vt:lpstr>Existing Solutions &amp; Gaps</vt:lpstr>
      <vt:lpstr>Our Solution: ActiveSaga</vt:lpstr>
      <vt:lpstr>Project Objectives &amp; Innovation</vt:lpstr>
      <vt:lpstr>Technology Stack</vt:lpstr>
      <vt:lpstr>Architecture </vt:lpstr>
      <vt:lpstr>Use State</vt:lpstr>
      <vt:lpstr>Activity Diagram</vt:lpstr>
      <vt:lpstr>Core Algorithm: Movement Analysis</vt:lpstr>
      <vt:lpstr>Gamification &amp; Progression System</vt:lpstr>
      <vt:lpstr>Success Metrics &amp; Evaluation Plan</vt:lpstr>
      <vt:lpstr>Testing &amp; Safety</vt:lpstr>
      <vt:lpstr>POC Video</vt:lpstr>
      <vt:lpstr>POC</vt:lpstr>
      <vt:lpstr>Challenges &amp; Future Work</vt:lpstr>
      <vt:lpstr>Summary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 Sport Game ActiveSaga</dc:title>
  <cp:lastModifiedBy>אלכסנדרה בלקינד</cp:lastModifiedBy>
  <cp:revision>18</cp:revision>
  <dcterms:modified xsi:type="dcterms:W3CDTF">2026-01-17T13:32:20Z</dcterms:modified>
</cp:coreProperties>
</file>